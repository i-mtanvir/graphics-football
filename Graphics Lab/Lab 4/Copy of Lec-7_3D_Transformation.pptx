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9144000"/>
  <p:notesSz cx="9296400" cy="7010400"/>
  <p:embeddedFontLst>
    <p:embeddedFont>
      <p:font typeface="Tahoma"/>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39">
          <p15:clr>
            <a:srgbClr val="000000"/>
          </p15:clr>
        </p15:guide>
        <p15:guide id="2" pos="2879">
          <p15:clr>
            <a:srgbClr val="000000"/>
          </p15:clr>
        </p15:guide>
      </p15:sldGuideLst>
    </p:ext>
    <p:ext uri="GoogleSlidesCustomDataVersion2">
      <go:slidesCustomData xmlns:go="http://customooxmlschemas.google.com/" r:id="rId31" roundtripDataSignature="AMtx7mh1tfvOwUgCi438TisDLClkWA6pA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39" orient="horz"/>
        <p:guide pos="2879"/>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Tahoma-regular.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Tahoma-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029075" cy="350837"/>
          </a:xfrm>
          <a:prstGeom prst="rect">
            <a:avLst/>
          </a:prstGeom>
          <a:noFill/>
          <a:ln>
            <a:noFill/>
          </a:ln>
        </p:spPr>
        <p:txBody>
          <a:bodyPr anchorCtr="0" anchor="t"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5265737" y="0"/>
            <a:ext cx="4029075" cy="350837"/>
          </a:xfrm>
          <a:prstGeom prst="rect">
            <a:avLst/>
          </a:prstGeom>
          <a:noFill/>
          <a:ln>
            <a:noFill/>
          </a:ln>
        </p:spPr>
        <p:txBody>
          <a:bodyPr anchorCtr="0" anchor="t" bIns="46575" lIns="93175" spcFirstLastPara="1" rIns="93175" wrap="square" tIns="4657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6657975"/>
            <a:ext cx="4029075" cy="350837"/>
          </a:xfrm>
          <a:prstGeom prst="rect">
            <a:avLst/>
          </a:prstGeom>
          <a:noFill/>
          <a:ln>
            <a:noFill/>
          </a:ln>
        </p:spPr>
        <p:txBody>
          <a:bodyPr anchorCtr="0" anchor="b"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5265737" y="6657975"/>
            <a:ext cx="4029075" cy="350837"/>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6" name="Google Shape;86;p1:notes"/>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txBox="1"/>
          <p:nvPr/>
        </p:nvSpPr>
        <p:spPr>
          <a:xfrm>
            <a:off x="5265737" y="6657975"/>
            <a:ext cx="4029075" cy="350837"/>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97" name="Google Shape;97;p2: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bb5fbf5691_0_28: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10" name="Google Shape;110;g3bb5fbf5691_0_28: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bb5fbf5691_0_52: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21" name="Google Shape;121;g3bb5fbf5691_0_52: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bb5fbf5691_0_39: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35" name="Google Shape;135;g3bb5fbf5691_0_39: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bb5fbf5691_0_101: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45" name="Google Shape;145;g3bb5fbf5691_0_101: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bb5fbf5691_0_121: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70" name="Google Shape;170;g3bb5fbf5691_0_121: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bb5fbf5691_0_190: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85" name="Google Shape;185;g3bb5fbf5691_0_190: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bc93f8e738_0_80: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00" name="Google Shape;200;g3bc93f8e738_0_80: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bc93f8e738_0_146: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16" name="Google Shape;216;g3bc93f8e738_0_146: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bb5fbf5691_0_158: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32" name="Google Shape;232;g3bb5fbf5691_0_158: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bb5fbf5691_0_233: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44" name="Google Shape;244;g3bb5fbf5691_0_233: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bbe9322812_0_20: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57" name="Google Shape;257;g3bbe9322812_0_20: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bc93f8e738_0_173: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69" name="Google Shape;269;g3bc93f8e738_0_173: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bc93f8e738_0_202: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84" name="Google Shape;284;g3bc93f8e738_0_202: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bb5fbf5691_0_224: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99" name="Google Shape;299;g3bb5fbf5691_0_224: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bbe9322812_0_104: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10" name="Google Shape;310;g3bbe9322812_0_104: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bbe9322812_0_132: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24" name="Google Shape;324;g3bbe9322812_0_132: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bc93f8e738_0_224: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35" name="Google Shape;335;g3bc93f8e738_0_224: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bbe9322812_0_245: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52" name="Google Shape;352;g3bbe9322812_0_245: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bbe9322812_0_295: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65" name="Google Shape;365;g3bbe9322812_0_295: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bc93f8e738_0_276: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80" name="Google Shape;380;g3bc93f8e738_0_276: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7: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6" name="Google Shape;396;p17:notes"/>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97" name="Google Shape;397;p17:notes"/>
          <p:cNvSpPr txBox="1"/>
          <p:nvPr/>
        </p:nvSpPr>
        <p:spPr>
          <a:xfrm>
            <a:off x="5265737" y="6657975"/>
            <a:ext cx="4029075" cy="350837"/>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1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20"/>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 name="Shape 27"/>
        <p:cNvGrpSpPr/>
        <p:nvPr/>
      </p:nvGrpSpPr>
      <p:grpSpPr>
        <a:xfrm>
          <a:off x="0" y="0"/>
          <a:ext cx="0" cy="0"/>
          <a:chOff x="0" y="0"/>
          <a:chExt cx="0" cy="0"/>
        </a:xfrm>
      </p:grpSpPr>
      <p:sp>
        <p:nvSpPr>
          <p:cNvPr id="28" name="Google Shape;28;p21"/>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0" name="Google Shape;30;p21"/>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3" name="Shape 33"/>
        <p:cNvGrpSpPr/>
        <p:nvPr/>
      </p:nvGrpSpPr>
      <p:grpSpPr>
        <a:xfrm>
          <a:off x="0" y="0"/>
          <a:ext cx="0" cy="0"/>
          <a:chOff x="0" y="0"/>
          <a:chExt cx="0" cy="0"/>
        </a:xfrm>
      </p:grpSpPr>
      <p:sp>
        <p:nvSpPr>
          <p:cNvPr id="34" name="Google Shape;34;p22"/>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 type="body"/>
          </p:nvPr>
        </p:nvSpPr>
        <p:spPr>
          <a:xfrm rot="5400000">
            <a:off x="2396332" y="57943"/>
            <a:ext cx="4351337"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2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9" name="Shape 39"/>
        <p:cNvGrpSpPr/>
        <p:nvPr/>
      </p:nvGrpSpPr>
      <p:grpSpPr>
        <a:xfrm>
          <a:off x="0" y="0"/>
          <a:ext cx="0" cy="0"/>
          <a:chOff x="0" y="0"/>
          <a:chExt cx="0" cy="0"/>
        </a:xfrm>
      </p:grpSpPr>
      <p:sp>
        <p:nvSpPr>
          <p:cNvPr id="40" name="Google Shape;40;p23"/>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3"/>
          <p:cNvSpPr/>
          <p:nvPr>
            <p:ph idx="2" type="pic"/>
          </p:nvPr>
        </p:nvSpPr>
        <p:spPr>
          <a:xfrm>
            <a:off x="3887391" y="987426"/>
            <a:ext cx="4629150" cy="4873625"/>
          </a:xfrm>
          <a:prstGeom prst="rect">
            <a:avLst/>
          </a:prstGeom>
          <a:noFill/>
          <a:ln>
            <a:noFill/>
          </a:ln>
        </p:spPr>
      </p:sp>
      <p:sp>
        <p:nvSpPr>
          <p:cNvPr id="42" name="Google Shape;42;p23"/>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43" name="Google Shape;43;p23"/>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24"/>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4"/>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49" name="Google Shape;49;p24"/>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50" name="Google Shape;50;p24"/>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25"/>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26"/>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6"/>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27"/>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7"/>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5" name="Google Shape;65;p27"/>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6" name="Google Shape;66;p27"/>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7" name="Google Shape;67;p27"/>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8" name="Google Shape;68;p27"/>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28"/>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8"/>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4" name="Google Shape;74;p28"/>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2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29"/>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81" name="Google Shape;81;p2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8"/>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1.png"/><Relationship Id="rId6" Type="http://schemas.openxmlformats.org/officeDocument/2006/relationships/image" Target="../media/image7.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2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13.png"/><Relationship Id="rId6" Type="http://schemas.openxmlformats.org/officeDocument/2006/relationships/image" Target="../media/image14.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20.png"/><Relationship Id="rId9" Type="http://schemas.openxmlformats.org/officeDocument/2006/relationships/image" Target="../media/image15.pn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11.png"/><Relationship Id="rId8"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22.png"/><Relationship Id="rId7" Type="http://schemas.openxmlformats.org/officeDocument/2006/relationships/image" Target="../media/image28.png"/><Relationship Id="rId8" Type="http://schemas.openxmlformats.org/officeDocument/2006/relationships/image" Target="../media/image21.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28.png"/><Relationship Id="rId5" Type="http://schemas.openxmlformats.org/officeDocument/2006/relationships/image" Target="../media/image3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25.png"/><Relationship Id="rId5"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31.png"/><Relationship Id="rId5" Type="http://schemas.openxmlformats.org/officeDocument/2006/relationships/image" Target="../media/image3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29.png"/><Relationship Id="rId5" Type="http://schemas.openxmlformats.org/officeDocument/2006/relationships/image" Target="../media/image2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30.jpg"/><Relationship Id="rId5"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4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37.png"/><Relationship Id="rId5" Type="http://schemas.openxmlformats.org/officeDocument/2006/relationships/image" Target="../media/image34.png"/><Relationship Id="rId6" Type="http://schemas.openxmlformats.org/officeDocument/2006/relationships/image" Target="../media/image3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36.png"/><Relationship Id="rId5" Type="http://schemas.openxmlformats.org/officeDocument/2006/relationships/image" Target="../media/image42.png"/><Relationship Id="rId6" Type="http://schemas.openxmlformats.org/officeDocument/2006/relationships/image" Target="../media/image45.png"/><Relationship Id="rId7" Type="http://schemas.openxmlformats.org/officeDocument/2006/relationships/image" Target="../media/image38.png"/><Relationship Id="rId8"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6.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055800" y="730200"/>
            <a:ext cx="6838500" cy="1809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br>
              <a:rPr b="0" i="0" lang="en-US" sz="4100" u="none">
                <a:solidFill>
                  <a:schemeClr val="dk1"/>
                </a:solidFill>
                <a:latin typeface="Calibri"/>
                <a:ea typeface="Calibri"/>
                <a:cs typeface="Calibri"/>
                <a:sym typeface="Calibri"/>
              </a:rPr>
            </a:br>
            <a:r>
              <a:rPr b="1" i="0" lang="en-US" sz="3600" u="none">
                <a:solidFill>
                  <a:schemeClr val="dk1"/>
                </a:solidFill>
                <a:latin typeface="Calibri"/>
                <a:ea typeface="Calibri"/>
                <a:cs typeface="Calibri"/>
                <a:sym typeface="Calibri"/>
              </a:rPr>
              <a:t>Computer Graphics</a:t>
            </a:r>
            <a:br>
              <a:rPr b="1" i="0" lang="en-US" sz="3600" u="none">
                <a:solidFill>
                  <a:schemeClr val="dk1"/>
                </a:solidFill>
                <a:latin typeface="Calibri"/>
                <a:ea typeface="Calibri"/>
                <a:cs typeface="Calibri"/>
                <a:sym typeface="Calibri"/>
              </a:rPr>
            </a:br>
            <a:r>
              <a:rPr b="1" lang="en-US" sz="3266">
                <a:solidFill>
                  <a:srgbClr val="0B5394"/>
                </a:solidFill>
              </a:rPr>
              <a:t>3D Transformation</a:t>
            </a:r>
            <a:endParaRPr b="1" sz="3600">
              <a:solidFill>
                <a:srgbClr val="0B5394"/>
              </a:solidFill>
            </a:endParaRPr>
          </a:p>
          <a:p>
            <a:pPr indent="0" lvl="0" marL="0" rtl="0" algn="ctr">
              <a:lnSpc>
                <a:spcPct val="90000"/>
              </a:lnSpc>
              <a:spcBef>
                <a:spcPts val="0"/>
              </a:spcBef>
              <a:spcAft>
                <a:spcPts val="0"/>
              </a:spcAft>
              <a:buClr>
                <a:schemeClr val="dk1"/>
              </a:buClr>
              <a:buSzPct val="136666"/>
              <a:buFont typeface="Calibri"/>
              <a:buNone/>
            </a:pPr>
            <a:r>
              <a:rPr b="1" lang="en-US" sz="3000">
                <a:solidFill>
                  <a:srgbClr val="85200C"/>
                </a:solidFill>
              </a:rPr>
              <a:t>Lecture 7</a:t>
            </a:r>
            <a:endParaRPr>
              <a:solidFill>
                <a:srgbClr val="85200C"/>
              </a:solidFill>
            </a:endParaRPr>
          </a:p>
        </p:txBody>
      </p:sp>
      <p:sp>
        <p:nvSpPr>
          <p:cNvPr id="90" name="Google Shape;90;p1"/>
          <p:cNvSpPr txBox="1"/>
          <p:nvPr>
            <p:ph idx="1" type="subTitle"/>
          </p:nvPr>
        </p:nvSpPr>
        <p:spPr>
          <a:xfrm>
            <a:off x="263800" y="4964425"/>
            <a:ext cx="8422500" cy="15066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1800"/>
              <a:buNone/>
            </a:pPr>
            <a:r>
              <a:t/>
            </a:r>
            <a:endParaRPr b="0" i="0" sz="1800" u="none">
              <a:solidFill>
                <a:schemeClr val="dk1"/>
              </a:solidFill>
              <a:latin typeface="Calibri"/>
              <a:ea typeface="Calibri"/>
              <a:cs typeface="Calibri"/>
              <a:sym typeface="Calibri"/>
            </a:endParaRPr>
          </a:p>
          <a:p>
            <a:pPr indent="0" lvl="0" marL="0" rtl="0" algn="ctr">
              <a:lnSpc>
                <a:spcPct val="90000"/>
              </a:lnSpc>
              <a:spcBef>
                <a:spcPts val="700"/>
              </a:spcBef>
              <a:spcAft>
                <a:spcPts val="0"/>
              </a:spcAft>
              <a:buClr>
                <a:schemeClr val="dk1"/>
              </a:buClr>
              <a:buSzPts val="1800"/>
              <a:buNone/>
            </a:pPr>
            <a:r>
              <a:rPr b="1" lang="en-US">
                <a:solidFill>
                  <a:srgbClr val="980000"/>
                </a:solidFill>
              </a:rPr>
              <a:t>Syada Tasmia Alvi</a:t>
            </a:r>
            <a:endParaRPr b="1">
              <a:solidFill>
                <a:srgbClr val="980000"/>
              </a:solidFill>
            </a:endParaRPr>
          </a:p>
          <a:p>
            <a:pPr indent="0" lvl="0" marL="0" rtl="0" algn="ctr">
              <a:lnSpc>
                <a:spcPct val="90000"/>
              </a:lnSpc>
              <a:spcBef>
                <a:spcPts val="700"/>
              </a:spcBef>
              <a:spcAft>
                <a:spcPts val="0"/>
              </a:spcAft>
              <a:buClr>
                <a:schemeClr val="dk1"/>
              </a:buClr>
              <a:buSzPts val="1800"/>
              <a:buNone/>
            </a:pPr>
            <a:r>
              <a:rPr b="1" lang="en-US">
                <a:solidFill>
                  <a:srgbClr val="0B5394"/>
                </a:solidFill>
              </a:rPr>
              <a:t>Senior Lecturer</a:t>
            </a:r>
            <a:br>
              <a:rPr b="1" i="0" lang="en-US" sz="1800" u="none">
                <a:solidFill>
                  <a:srgbClr val="0B5394"/>
                </a:solidFill>
              </a:rPr>
            </a:br>
            <a:r>
              <a:rPr b="1" i="0" lang="en-US" sz="1800" u="none">
                <a:solidFill>
                  <a:srgbClr val="1C4587"/>
                </a:solidFill>
              </a:rPr>
              <a:t>Department of Computer Science and Engineering</a:t>
            </a:r>
            <a:br>
              <a:rPr b="1" i="0" lang="en-US" sz="1800" u="none">
                <a:solidFill>
                  <a:srgbClr val="1C4587"/>
                </a:solidFill>
              </a:rPr>
            </a:br>
            <a:r>
              <a:rPr b="1" i="0" lang="en-US" sz="1800" u="none">
                <a:solidFill>
                  <a:srgbClr val="1C4587"/>
                </a:solidFill>
              </a:rPr>
              <a:t>Daffodil International University, DIU</a:t>
            </a:r>
            <a:endParaRPr b="1">
              <a:solidFill>
                <a:srgbClr val="1C4587"/>
              </a:solidFill>
            </a:endParaRPr>
          </a:p>
        </p:txBody>
      </p:sp>
      <p:sp>
        <p:nvSpPr>
          <p:cNvPr descr="Diu Logo PNG Images - CleanPNG" id="91" name="Google Shape;91;p1"/>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92" name="Google Shape;92;p1"/>
          <p:cNvPicPr preferRelativeResize="0"/>
          <p:nvPr/>
        </p:nvPicPr>
        <p:blipFill rotWithShape="1">
          <a:blip r:embed="rId3">
            <a:alphaModFix/>
          </a:blip>
          <a:srcRect b="0" l="0" r="0" t="0"/>
          <a:stretch/>
        </p:blipFill>
        <p:spPr>
          <a:xfrm>
            <a:off x="3789250" y="160350"/>
            <a:ext cx="1371600" cy="685800"/>
          </a:xfrm>
          <a:prstGeom prst="rect">
            <a:avLst/>
          </a:prstGeom>
          <a:noFill/>
          <a:ln>
            <a:noFill/>
          </a:ln>
        </p:spPr>
      </p:pic>
      <p:sp>
        <p:nvSpPr>
          <p:cNvPr id="93" name="Google Shape;93;p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94" name="Google Shape;94;p1"/>
          <p:cNvPicPr preferRelativeResize="0"/>
          <p:nvPr/>
        </p:nvPicPr>
        <p:blipFill rotWithShape="1">
          <a:blip r:embed="rId4">
            <a:alphaModFix/>
          </a:blip>
          <a:srcRect b="0" l="0" r="0" t="0"/>
          <a:stretch/>
        </p:blipFill>
        <p:spPr>
          <a:xfrm>
            <a:off x="2528550" y="2539800"/>
            <a:ext cx="3892876" cy="2664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8" name="Shape 98"/>
        <p:cNvGrpSpPr/>
        <p:nvPr/>
      </p:nvGrpSpPr>
      <p:grpSpPr>
        <a:xfrm>
          <a:off x="0" y="0"/>
          <a:ext cx="0" cy="0"/>
          <a:chOff x="0" y="0"/>
          <a:chExt cx="0" cy="0"/>
        </a:xfrm>
      </p:grpSpPr>
      <p:sp>
        <p:nvSpPr>
          <p:cNvPr id="99" name="Google Shape;99;p2"/>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1" i="0" lang="en-US" sz="900" u="none" cap="none" strike="noStrike">
                <a:solidFill>
                  <a:srgbClr val="0B5394"/>
                </a:solidFill>
                <a:latin typeface="Arial"/>
                <a:ea typeface="Arial"/>
                <a:cs typeface="Arial"/>
                <a:sym typeface="Arial"/>
              </a:rPr>
              <a:t>Department of CSE, Daffodil International University</a:t>
            </a:r>
            <a:endParaRPr b="1" i="0" sz="1400" u="none" cap="none" strike="noStrike">
              <a:solidFill>
                <a:srgbClr val="0B5394"/>
              </a:solidFill>
              <a:latin typeface="Arial"/>
              <a:ea typeface="Arial"/>
              <a:cs typeface="Arial"/>
              <a:sym typeface="Arial"/>
            </a:endParaRPr>
          </a:p>
        </p:txBody>
      </p:sp>
      <p:sp>
        <p:nvSpPr>
          <p:cNvPr id="100" name="Google Shape;100;p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101" name="Google Shape;101;p2"/>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02" name="Google Shape;102;p2"/>
          <p:cNvSpPr txBox="1"/>
          <p:nvPr/>
        </p:nvSpPr>
        <p:spPr>
          <a:xfrm>
            <a:off x="363825" y="168125"/>
            <a:ext cx="7789500" cy="8004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4400"/>
              <a:buFont typeface="Calibri"/>
              <a:buNone/>
            </a:pPr>
            <a:r>
              <a:rPr b="0" i="0" lang="en-US" sz="4000" u="none" cap="none" strike="noStrike">
                <a:solidFill>
                  <a:schemeClr val="lt1"/>
                </a:solidFill>
                <a:latin typeface="Calibri"/>
                <a:ea typeface="Calibri"/>
                <a:cs typeface="Calibri"/>
                <a:sym typeface="Calibri"/>
              </a:rPr>
              <a:t>3D Transformations</a:t>
            </a:r>
            <a:endParaRPr b="0" i="0" sz="4000" u="none" cap="none" strike="noStrike">
              <a:solidFill>
                <a:schemeClr val="lt1"/>
              </a:solidFill>
              <a:latin typeface="Calibri"/>
              <a:ea typeface="Calibri"/>
              <a:cs typeface="Calibri"/>
              <a:sym typeface="Calibri"/>
            </a:endParaRPr>
          </a:p>
        </p:txBody>
      </p:sp>
      <p:sp>
        <p:nvSpPr>
          <p:cNvPr id="103" name="Google Shape;103;p2"/>
          <p:cNvSpPr txBox="1"/>
          <p:nvPr/>
        </p:nvSpPr>
        <p:spPr>
          <a:xfrm>
            <a:off x="270625" y="1128675"/>
            <a:ext cx="5113800" cy="2098500"/>
          </a:xfrm>
          <a:prstGeom prst="rect">
            <a:avLst/>
          </a:prstGeom>
          <a:noFill/>
          <a:ln>
            <a:noFill/>
          </a:ln>
        </p:spPr>
        <p:txBody>
          <a:bodyPr anchorCtr="0" anchor="t" bIns="91425" lIns="91425" spcFirstLastPara="1" rIns="91425" wrap="square" tIns="91425">
            <a:spAutoFit/>
          </a:bodyPr>
          <a:lstStyle/>
          <a:p>
            <a:pPr indent="-342900" lvl="0" marL="457200" marR="0" rtl="0" algn="just">
              <a:lnSpc>
                <a:spcPct val="100000"/>
              </a:lnSpc>
              <a:spcBef>
                <a:spcPts val="0"/>
              </a:spcBef>
              <a:spcAft>
                <a:spcPts val="0"/>
              </a:spcAft>
              <a:buClr>
                <a:srgbClr val="0B5394"/>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When the transformation takes place on a 3D plane. It is called 3D transformation</a:t>
            </a:r>
            <a:endParaRPr b="0" i="0" sz="1800" u="none" cap="none" strike="noStrike">
              <a:solidFill>
                <a:srgbClr val="000000"/>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rgbClr val="0B5394"/>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Generalize from 2D by including z coordinate Straight forward for translation and scale, rotation more difficult</a:t>
            </a:r>
            <a:endParaRPr b="0" i="0" sz="20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pic>
        <p:nvPicPr>
          <p:cNvPr id="104" name="Google Shape;104;p2"/>
          <p:cNvPicPr preferRelativeResize="0"/>
          <p:nvPr/>
        </p:nvPicPr>
        <p:blipFill rotWithShape="1">
          <a:blip r:embed="rId4">
            <a:alphaModFix/>
          </a:blip>
          <a:srcRect b="0" l="0" r="0" t="0"/>
          <a:stretch/>
        </p:blipFill>
        <p:spPr>
          <a:xfrm>
            <a:off x="5775625" y="1498525"/>
            <a:ext cx="3250125" cy="1948675"/>
          </a:xfrm>
          <a:prstGeom prst="rect">
            <a:avLst/>
          </a:prstGeom>
          <a:noFill/>
          <a:ln>
            <a:noFill/>
          </a:ln>
        </p:spPr>
      </p:pic>
      <p:sp>
        <p:nvSpPr>
          <p:cNvPr id="105" name="Google Shape;105;p2"/>
          <p:cNvSpPr txBox="1"/>
          <p:nvPr/>
        </p:nvSpPr>
        <p:spPr>
          <a:xfrm>
            <a:off x="270625" y="3037475"/>
            <a:ext cx="5866500" cy="138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Homogeneous coordinates: 4 components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Transformation  matrices: 4×4 elements</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106" name="Google Shape;106;p2"/>
          <p:cNvPicPr preferRelativeResize="0"/>
          <p:nvPr/>
        </p:nvPicPr>
        <p:blipFill rotWithShape="1">
          <a:blip r:embed="rId5">
            <a:alphaModFix/>
          </a:blip>
          <a:srcRect b="0" l="0" r="0" t="0"/>
          <a:stretch/>
        </p:blipFill>
        <p:spPr>
          <a:xfrm>
            <a:off x="1260700" y="4299063"/>
            <a:ext cx="1857150" cy="1698499"/>
          </a:xfrm>
          <a:prstGeom prst="rect">
            <a:avLst/>
          </a:prstGeom>
          <a:noFill/>
          <a:ln>
            <a:noFill/>
          </a:ln>
        </p:spPr>
      </p:pic>
      <p:pic>
        <p:nvPicPr>
          <p:cNvPr id="107" name="Google Shape;107;p2" title="netsprism.gif"/>
          <p:cNvPicPr preferRelativeResize="0"/>
          <p:nvPr/>
        </p:nvPicPr>
        <p:blipFill rotWithShape="1">
          <a:blip r:embed="rId6">
            <a:alphaModFix/>
          </a:blip>
          <a:srcRect b="35640" l="31250" r="31665" t="21075"/>
          <a:stretch/>
        </p:blipFill>
        <p:spPr>
          <a:xfrm>
            <a:off x="6270388" y="3614025"/>
            <a:ext cx="2260600" cy="2098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1" name="Shape 111"/>
        <p:cNvGrpSpPr/>
        <p:nvPr/>
      </p:nvGrpSpPr>
      <p:grpSpPr>
        <a:xfrm>
          <a:off x="0" y="0"/>
          <a:ext cx="0" cy="0"/>
          <a:chOff x="0" y="0"/>
          <a:chExt cx="0" cy="0"/>
        </a:xfrm>
      </p:grpSpPr>
      <p:sp>
        <p:nvSpPr>
          <p:cNvPr id="112" name="Google Shape;112;g3bb5fbf5691_0_28"/>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1" i="0" lang="en-US" sz="900" u="none" cap="none" strike="noStrike">
                <a:solidFill>
                  <a:srgbClr val="898989"/>
                </a:solidFill>
                <a:latin typeface="Arial"/>
                <a:ea typeface="Arial"/>
                <a:cs typeface="Arial"/>
                <a:sym typeface="Arial"/>
              </a:rPr>
              <a:t>Department of CSE, Daffodil International University</a:t>
            </a:r>
            <a:endParaRPr b="1" i="0" sz="1400" u="none" cap="none" strike="noStrike">
              <a:solidFill>
                <a:srgbClr val="000000"/>
              </a:solidFill>
              <a:latin typeface="Arial"/>
              <a:ea typeface="Arial"/>
              <a:cs typeface="Arial"/>
              <a:sym typeface="Arial"/>
            </a:endParaRPr>
          </a:p>
        </p:txBody>
      </p:sp>
      <p:sp>
        <p:nvSpPr>
          <p:cNvPr id="113" name="Google Shape;113;g3bb5fbf5691_0_28"/>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4" name="Google Shape;114;g3bb5fbf5691_0_28"/>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3D Transformations Types</a:t>
            </a:r>
            <a:endParaRPr b="0" i="0" sz="3800" u="none" cap="none" strike="noStrike">
              <a:solidFill>
                <a:schemeClr val="lt1"/>
              </a:solidFill>
              <a:latin typeface="Calibri"/>
              <a:ea typeface="Calibri"/>
              <a:cs typeface="Calibri"/>
              <a:sym typeface="Calibri"/>
            </a:endParaRPr>
          </a:p>
        </p:txBody>
      </p:sp>
      <p:pic>
        <p:nvPicPr>
          <p:cNvPr id="115" name="Google Shape;115;g3bb5fbf5691_0_28"/>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pic>
        <p:nvPicPr>
          <p:cNvPr id="116" name="Google Shape;116;g3bb5fbf5691_0_28"/>
          <p:cNvPicPr preferRelativeResize="0"/>
          <p:nvPr/>
        </p:nvPicPr>
        <p:blipFill rotWithShape="1">
          <a:blip r:embed="rId4">
            <a:alphaModFix/>
          </a:blip>
          <a:srcRect b="0" l="0" r="0" t="0"/>
          <a:stretch/>
        </p:blipFill>
        <p:spPr>
          <a:xfrm>
            <a:off x="141075" y="1678388"/>
            <a:ext cx="4042849" cy="3569078"/>
          </a:xfrm>
          <a:prstGeom prst="rect">
            <a:avLst/>
          </a:prstGeom>
          <a:noFill/>
          <a:ln>
            <a:noFill/>
          </a:ln>
        </p:spPr>
      </p:pic>
      <p:pic>
        <p:nvPicPr>
          <p:cNvPr id="117" name="Google Shape;117;g3bb5fbf5691_0_28"/>
          <p:cNvPicPr preferRelativeResize="0"/>
          <p:nvPr/>
        </p:nvPicPr>
        <p:blipFill rotWithShape="1">
          <a:blip r:embed="rId5">
            <a:alphaModFix/>
          </a:blip>
          <a:srcRect b="-1578" l="-2420" r="2418" t="1579"/>
          <a:stretch/>
        </p:blipFill>
        <p:spPr>
          <a:xfrm>
            <a:off x="4472500" y="1546700"/>
            <a:ext cx="4042849" cy="4200576"/>
          </a:xfrm>
          <a:prstGeom prst="rect">
            <a:avLst/>
          </a:prstGeom>
          <a:noFill/>
          <a:ln>
            <a:noFill/>
          </a:ln>
        </p:spPr>
      </p:pic>
      <p:sp>
        <p:nvSpPr>
          <p:cNvPr id="118" name="Google Shape;118;g3bb5fbf5691_0_28"/>
          <p:cNvSpPr/>
          <p:nvPr/>
        </p:nvSpPr>
        <p:spPr>
          <a:xfrm>
            <a:off x="3835900" y="3356150"/>
            <a:ext cx="1095300" cy="365100"/>
          </a:xfrm>
          <a:prstGeom prst="rightArrow">
            <a:avLst>
              <a:gd fmla="val 50000" name="adj1"/>
              <a:gd fmla="val 500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98989"/>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2" name="Shape 122"/>
        <p:cNvGrpSpPr/>
        <p:nvPr/>
      </p:nvGrpSpPr>
      <p:grpSpPr>
        <a:xfrm>
          <a:off x="0" y="0"/>
          <a:ext cx="0" cy="0"/>
          <a:chOff x="0" y="0"/>
          <a:chExt cx="0" cy="0"/>
        </a:xfrm>
      </p:grpSpPr>
      <p:sp>
        <p:nvSpPr>
          <p:cNvPr id="123" name="Google Shape;123;g3bb5fbf5691_0_52"/>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24" name="Google Shape;124;g3bb5fbf5691_0_52"/>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5" name="Google Shape;125;g3bb5fbf5691_0_52"/>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3D Transformations (Translation)</a:t>
            </a:r>
            <a:endParaRPr b="0" i="0" sz="3800" u="none" cap="none" strike="noStrike">
              <a:solidFill>
                <a:schemeClr val="lt1"/>
              </a:solidFill>
              <a:latin typeface="Calibri"/>
              <a:ea typeface="Calibri"/>
              <a:cs typeface="Calibri"/>
              <a:sym typeface="Calibri"/>
            </a:endParaRPr>
          </a:p>
        </p:txBody>
      </p:sp>
      <p:pic>
        <p:nvPicPr>
          <p:cNvPr id="126" name="Google Shape;126;g3bb5fbf5691_0_52"/>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27" name="Google Shape;127;g3bb5fbf5691_0_52"/>
          <p:cNvSpPr txBox="1"/>
          <p:nvPr/>
        </p:nvSpPr>
        <p:spPr>
          <a:xfrm>
            <a:off x="0" y="1023763"/>
            <a:ext cx="5175300" cy="19806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1000"/>
              </a:spcBef>
              <a:spcAft>
                <a:spcPts val="0"/>
              </a:spcAft>
              <a:buClr>
                <a:srgbClr val="0B5394"/>
              </a:buClr>
              <a:buSzPts val="2000"/>
              <a:buFont typeface="Times New Roman"/>
              <a:buChar char="■"/>
            </a:pPr>
            <a:r>
              <a:rPr b="0" i="0" lang="en-US" sz="2000" u="none" cap="none" strike="noStrike">
                <a:solidFill>
                  <a:srgbClr val="434343"/>
                </a:solidFill>
                <a:latin typeface="Times New Roman"/>
                <a:ea typeface="Times New Roman"/>
                <a:cs typeface="Times New Roman"/>
                <a:sym typeface="Times New Roman"/>
              </a:rPr>
              <a:t>Moving of an object is called translation.</a:t>
            </a:r>
            <a:endParaRPr b="0" i="0" sz="2000" u="none" cap="none" strike="noStrike">
              <a:solidFill>
                <a:srgbClr val="434343"/>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rgbClr val="0B5394"/>
              </a:buClr>
              <a:buSzPts val="2000"/>
              <a:buFont typeface="Times New Roman"/>
              <a:buChar char="■"/>
            </a:pPr>
            <a:r>
              <a:rPr b="0" i="0" lang="en-US" sz="2000" u="none" cap="none" strike="noStrike">
                <a:solidFill>
                  <a:srgbClr val="434343"/>
                </a:solidFill>
                <a:latin typeface="Times New Roman"/>
                <a:ea typeface="Times New Roman"/>
                <a:cs typeface="Times New Roman"/>
                <a:sym typeface="Times New Roman"/>
              </a:rPr>
              <a:t>In 3-dimensional homogeneous coordinate representation , a point is transformed from position P = ( x, y , z) to P’=( x’, y’, z’)</a:t>
            </a:r>
            <a:endParaRPr b="0" i="0" sz="2000" u="none" cap="none" strike="noStrike">
              <a:solidFill>
                <a:srgbClr val="434343"/>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rgbClr val="0B5394"/>
              </a:buClr>
              <a:buSzPts val="2000"/>
              <a:buFont typeface="Times New Roman"/>
              <a:buChar char="■"/>
            </a:pPr>
            <a:r>
              <a:rPr b="0" i="0" lang="en-US" sz="2000" u="none" cap="none" strike="noStrike">
                <a:solidFill>
                  <a:srgbClr val="434343"/>
                </a:solidFill>
                <a:latin typeface="Times New Roman"/>
                <a:ea typeface="Times New Roman"/>
                <a:cs typeface="Times New Roman"/>
                <a:sym typeface="Times New Roman"/>
              </a:rPr>
              <a:t>This can be written as:- Using     P’ = T . P       </a:t>
            </a:r>
            <a:endParaRPr b="0" i="0" sz="2000" u="none" cap="none" strike="noStrike">
              <a:solidFill>
                <a:srgbClr val="434343"/>
              </a:solidFill>
              <a:latin typeface="Times New Roman"/>
              <a:ea typeface="Times New Roman"/>
              <a:cs typeface="Times New Roman"/>
              <a:sym typeface="Times New Roman"/>
            </a:endParaRPr>
          </a:p>
        </p:txBody>
      </p:sp>
      <p:sp>
        <p:nvSpPr>
          <p:cNvPr id="128" name="Google Shape;128;g3bb5fbf5691_0_52"/>
          <p:cNvSpPr txBox="1"/>
          <p:nvPr/>
        </p:nvSpPr>
        <p:spPr>
          <a:xfrm>
            <a:off x="5929163" y="1255200"/>
            <a:ext cx="2937900" cy="48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980000"/>
                </a:solidFill>
                <a:latin typeface="Times New Roman"/>
                <a:ea typeface="Times New Roman"/>
                <a:cs typeface="Times New Roman"/>
                <a:sym typeface="Times New Roman"/>
              </a:rPr>
              <a:t>Translation of objects</a:t>
            </a:r>
            <a:endParaRPr b="1" i="0" sz="1800" u="none" cap="none" strike="noStrike">
              <a:solidFill>
                <a:srgbClr val="980000"/>
              </a:solidFill>
              <a:latin typeface="Times New Roman"/>
              <a:ea typeface="Times New Roman"/>
              <a:cs typeface="Times New Roman"/>
              <a:sym typeface="Times New Roman"/>
            </a:endParaRPr>
          </a:p>
        </p:txBody>
      </p:sp>
      <p:sp>
        <p:nvSpPr>
          <p:cNvPr id="129" name="Google Shape;129;g3bb5fbf5691_0_52"/>
          <p:cNvSpPr txBox="1"/>
          <p:nvPr/>
        </p:nvSpPr>
        <p:spPr>
          <a:xfrm>
            <a:off x="363825" y="5505263"/>
            <a:ext cx="5997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pic>
        <p:nvPicPr>
          <p:cNvPr id="130" name="Google Shape;130;g3bb5fbf5691_0_52"/>
          <p:cNvPicPr preferRelativeResize="0"/>
          <p:nvPr/>
        </p:nvPicPr>
        <p:blipFill rotWithShape="1">
          <a:blip r:embed="rId4">
            <a:alphaModFix/>
          </a:blip>
          <a:srcRect b="0" l="0" r="0" t="0"/>
          <a:stretch/>
        </p:blipFill>
        <p:spPr>
          <a:xfrm>
            <a:off x="698348" y="3239564"/>
            <a:ext cx="2503949" cy="1424459"/>
          </a:xfrm>
          <a:prstGeom prst="rect">
            <a:avLst/>
          </a:prstGeom>
          <a:noFill/>
          <a:ln>
            <a:noFill/>
          </a:ln>
        </p:spPr>
      </p:pic>
      <p:pic>
        <p:nvPicPr>
          <p:cNvPr id="131" name="Google Shape;131;g3bb5fbf5691_0_52"/>
          <p:cNvPicPr preferRelativeResize="0"/>
          <p:nvPr/>
        </p:nvPicPr>
        <p:blipFill rotWithShape="1">
          <a:blip r:embed="rId5">
            <a:alphaModFix/>
          </a:blip>
          <a:srcRect b="0" l="0" r="0" t="0"/>
          <a:stretch/>
        </p:blipFill>
        <p:spPr>
          <a:xfrm>
            <a:off x="5293550" y="1939800"/>
            <a:ext cx="2859775" cy="1906524"/>
          </a:xfrm>
          <a:prstGeom prst="rect">
            <a:avLst/>
          </a:prstGeom>
          <a:noFill/>
          <a:ln>
            <a:noFill/>
          </a:ln>
        </p:spPr>
      </p:pic>
      <p:pic>
        <p:nvPicPr>
          <p:cNvPr id="132" name="Google Shape;132;g3bb5fbf5691_0_52" title="affine-space-translation.gif"/>
          <p:cNvPicPr preferRelativeResize="0"/>
          <p:nvPr/>
        </p:nvPicPr>
        <p:blipFill rotWithShape="1">
          <a:blip r:embed="rId6">
            <a:alphaModFix/>
          </a:blip>
          <a:srcRect b="0" l="0" r="0" t="0"/>
          <a:stretch/>
        </p:blipFill>
        <p:spPr>
          <a:xfrm>
            <a:off x="5789475" y="3898900"/>
            <a:ext cx="2503950" cy="21970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6" name="Shape 136"/>
        <p:cNvGrpSpPr/>
        <p:nvPr/>
      </p:nvGrpSpPr>
      <p:grpSpPr>
        <a:xfrm>
          <a:off x="0" y="0"/>
          <a:ext cx="0" cy="0"/>
          <a:chOff x="0" y="0"/>
          <a:chExt cx="0" cy="0"/>
        </a:xfrm>
      </p:grpSpPr>
      <p:sp>
        <p:nvSpPr>
          <p:cNvPr id="137" name="Google Shape;137;g3bb5fbf5691_0_39"/>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38" name="Google Shape;138;g3bb5fbf5691_0_39"/>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9" name="Google Shape;139;g3bb5fbf5691_0_39"/>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3D Transformations (Translation)</a:t>
            </a:r>
            <a:endParaRPr b="0" i="0" sz="3800" u="none" cap="none" strike="noStrike">
              <a:solidFill>
                <a:schemeClr val="lt1"/>
              </a:solidFill>
              <a:latin typeface="Calibri"/>
              <a:ea typeface="Calibri"/>
              <a:cs typeface="Calibri"/>
              <a:sym typeface="Calibri"/>
            </a:endParaRPr>
          </a:p>
        </p:txBody>
      </p:sp>
      <p:pic>
        <p:nvPicPr>
          <p:cNvPr id="140" name="Google Shape;140;g3bb5fbf5691_0_39"/>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41" name="Google Shape;141;g3bb5fbf5691_0_39"/>
          <p:cNvSpPr txBox="1"/>
          <p:nvPr/>
        </p:nvSpPr>
        <p:spPr>
          <a:xfrm>
            <a:off x="219675" y="1271700"/>
            <a:ext cx="3886200" cy="367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Times New Roman"/>
                <a:ea typeface="Times New Roman"/>
                <a:cs typeface="Times New Roman"/>
                <a:sym typeface="Times New Roman"/>
              </a:rPr>
              <a:t>The matrix representation is equivalent to the three equation.</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Times New Roman"/>
                <a:ea typeface="Times New Roman"/>
                <a:cs typeface="Times New Roman"/>
                <a:sym typeface="Times New Roman"/>
              </a:rPr>
              <a:t>          </a:t>
            </a:r>
            <a:r>
              <a:rPr b="0" i="1" lang="en-US" sz="1900" u="none" cap="none" strike="noStrike">
                <a:solidFill>
                  <a:schemeClr val="dk1"/>
                </a:solidFill>
                <a:latin typeface="Times New Roman"/>
                <a:ea typeface="Times New Roman"/>
                <a:cs typeface="Times New Roman"/>
                <a:sym typeface="Times New Roman"/>
              </a:rPr>
              <a:t> </a:t>
            </a:r>
            <a:r>
              <a:rPr b="1" i="1" lang="en-US" sz="1900" u="none" cap="none" strike="noStrike">
                <a:solidFill>
                  <a:schemeClr val="dk1"/>
                </a:solidFill>
                <a:latin typeface="Times New Roman"/>
                <a:ea typeface="Times New Roman"/>
                <a:cs typeface="Times New Roman"/>
                <a:sym typeface="Times New Roman"/>
              </a:rPr>
              <a:t>x’=x+ t</a:t>
            </a:r>
            <a:r>
              <a:rPr b="1" baseline="-25000" i="1" lang="en-US" sz="1900" u="none" cap="none" strike="noStrike">
                <a:solidFill>
                  <a:schemeClr val="dk1"/>
                </a:solidFill>
                <a:latin typeface="Times New Roman"/>
                <a:ea typeface="Times New Roman"/>
                <a:cs typeface="Times New Roman"/>
                <a:sym typeface="Times New Roman"/>
              </a:rPr>
              <a:t>x </a:t>
            </a:r>
            <a:r>
              <a:rPr b="1" i="0" lang="en-US" sz="1900" u="none" cap="none" strike="noStrike">
                <a:solidFill>
                  <a:schemeClr val="dk1"/>
                </a:solidFill>
                <a:latin typeface="Times New Roman"/>
                <a:ea typeface="Times New Roman"/>
                <a:cs typeface="Times New Roman"/>
                <a:sym typeface="Times New Roman"/>
              </a:rPr>
              <a:t>, </a:t>
            </a:r>
            <a:endParaRPr b="1" i="0" sz="19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chemeClr val="dk1"/>
                </a:solidFill>
                <a:latin typeface="Times New Roman"/>
                <a:ea typeface="Times New Roman"/>
                <a:cs typeface="Times New Roman"/>
                <a:sym typeface="Times New Roman"/>
              </a:rPr>
              <a:t>           </a:t>
            </a:r>
            <a:r>
              <a:rPr b="1" i="1" lang="en-US" sz="1900" u="none" cap="none" strike="noStrike">
                <a:solidFill>
                  <a:schemeClr val="dk1"/>
                </a:solidFill>
                <a:latin typeface="Times New Roman"/>
                <a:ea typeface="Times New Roman"/>
                <a:cs typeface="Times New Roman"/>
                <a:sym typeface="Times New Roman"/>
              </a:rPr>
              <a:t>y’=y+ t</a:t>
            </a:r>
            <a:r>
              <a:rPr b="1" baseline="-25000" i="1" lang="en-US" sz="1900" u="none" cap="none" strike="noStrike">
                <a:solidFill>
                  <a:schemeClr val="dk1"/>
                </a:solidFill>
                <a:latin typeface="Times New Roman"/>
                <a:ea typeface="Times New Roman"/>
                <a:cs typeface="Times New Roman"/>
                <a:sym typeface="Times New Roman"/>
              </a:rPr>
              <a:t>y</a:t>
            </a:r>
            <a:r>
              <a:rPr b="1" i="0" lang="en-US" sz="1900" u="none" cap="none" strike="noStrike">
                <a:solidFill>
                  <a:schemeClr val="dk1"/>
                </a:solidFill>
                <a:latin typeface="Times New Roman"/>
                <a:ea typeface="Times New Roman"/>
                <a:cs typeface="Times New Roman"/>
                <a:sym typeface="Times New Roman"/>
              </a:rPr>
              <a:t> , </a:t>
            </a:r>
            <a:endParaRPr b="1" i="0" sz="19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chemeClr val="dk1"/>
                </a:solidFill>
                <a:latin typeface="Times New Roman"/>
                <a:ea typeface="Times New Roman"/>
                <a:cs typeface="Times New Roman"/>
                <a:sym typeface="Times New Roman"/>
              </a:rPr>
              <a:t>           </a:t>
            </a:r>
            <a:r>
              <a:rPr b="1" i="1" lang="en-US" sz="1900" u="none" cap="none" strike="noStrike">
                <a:solidFill>
                  <a:schemeClr val="dk1"/>
                </a:solidFill>
                <a:latin typeface="Times New Roman"/>
                <a:ea typeface="Times New Roman"/>
                <a:cs typeface="Times New Roman"/>
                <a:sym typeface="Times New Roman"/>
              </a:rPr>
              <a:t>z’=z+ t</a:t>
            </a:r>
            <a:r>
              <a:rPr b="1" baseline="-25000" i="1" lang="en-US" sz="1900" u="none" cap="none" strike="noStrike">
                <a:solidFill>
                  <a:schemeClr val="dk1"/>
                </a:solidFill>
                <a:latin typeface="Times New Roman"/>
                <a:ea typeface="Times New Roman"/>
                <a:cs typeface="Times New Roman"/>
                <a:sym typeface="Times New Roman"/>
              </a:rPr>
              <a:t>z</a:t>
            </a:r>
            <a:r>
              <a:rPr b="1" i="0" lang="en-US" sz="1900" u="none" cap="none" strike="noStrike">
                <a:solidFill>
                  <a:schemeClr val="dk1"/>
                </a:solidFill>
                <a:latin typeface="Times New Roman"/>
                <a:ea typeface="Times New Roman"/>
                <a:cs typeface="Times New Roman"/>
                <a:sym typeface="Times New Roman"/>
              </a:rPr>
              <a:t> </a:t>
            </a:r>
            <a:endParaRPr b="1" i="0" sz="19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900"/>
              <a:buFont typeface="Arial"/>
              <a:buNone/>
            </a:pPr>
            <a:r>
              <a:t/>
            </a:r>
            <a:endParaRPr b="1" i="0" sz="19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900"/>
              <a:buFont typeface="Arial"/>
              <a:buNone/>
            </a:pPr>
            <a:r>
              <a:rPr b="0" i="0" lang="en-US" sz="1900" u="none" cap="none" strike="noStrike">
                <a:solidFill>
                  <a:schemeClr val="dk1"/>
                </a:solidFill>
                <a:latin typeface="Times New Roman"/>
                <a:ea typeface="Times New Roman"/>
                <a:cs typeface="Times New Roman"/>
                <a:sym typeface="Times New Roman"/>
              </a:rPr>
              <a:t>Where parameter </a:t>
            </a:r>
            <a:r>
              <a:rPr b="0" i="1" lang="en-US" sz="1900" u="none" cap="none" strike="noStrike">
                <a:solidFill>
                  <a:schemeClr val="dk1"/>
                </a:solidFill>
                <a:latin typeface="Times New Roman"/>
                <a:ea typeface="Times New Roman"/>
                <a:cs typeface="Times New Roman"/>
                <a:sym typeface="Times New Roman"/>
              </a:rPr>
              <a:t> t</a:t>
            </a:r>
            <a:r>
              <a:rPr b="0" baseline="-25000" i="1" lang="en-US" sz="1900" u="none" cap="none" strike="noStrike">
                <a:solidFill>
                  <a:schemeClr val="dk1"/>
                </a:solidFill>
                <a:latin typeface="Times New Roman"/>
                <a:ea typeface="Times New Roman"/>
                <a:cs typeface="Times New Roman"/>
                <a:sym typeface="Times New Roman"/>
              </a:rPr>
              <a:t>x , </a:t>
            </a:r>
            <a:r>
              <a:rPr b="0" i="1" lang="en-US" sz="1900" u="none" cap="none" strike="noStrike">
                <a:solidFill>
                  <a:schemeClr val="dk1"/>
                </a:solidFill>
                <a:latin typeface="Times New Roman"/>
                <a:ea typeface="Times New Roman"/>
                <a:cs typeface="Times New Roman"/>
                <a:sym typeface="Times New Roman"/>
              </a:rPr>
              <a:t>t</a:t>
            </a:r>
            <a:r>
              <a:rPr b="0" baseline="-25000" i="1" lang="en-US" sz="1900" u="none" cap="none" strike="noStrike">
                <a:solidFill>
                  <a:schemeClr val="dk1"/>
                </a:solidFill>
                <a:latin typeface="Times New Roman"/>
                <a:ea typeface="Times New Roman"/>
                <a:cs typeface="Times New Roman"/>
                <a:sym typeface="Times New Roman"/>
              </a:rPr>
              <a:t>y , </a:t>
            </a:r>
            <a:r>
              <a:rPr b="0" i="1" lang="en-US" sz="1900" u="none" cap="none" strike="noStrike">
                <a:solidFill>
                  <a:schemeClr val="dk1"/>
                </a:solidFill>
                <a:latin typeface="Times New Roman"/>
                <a:ea typeface="Times New Roman"/>
                <a:cs typeface="Times New Roman"/>
                <a:sym typeface="Times New Roman"/>
              </a:rPr>
              <a:t>t</a:t>
            </a:r>
            <a:r>
              <a:rPr b="0" baseline="-25000" i="1" lang="en-US" sz="1900" u="none" cap="none" strike="noStrike">
                <a:solidFill>
                  <a:schemeClr val="dk1"/>
                </a:solidFill>
                <a:latin typeface="Times New Roman"/>
                <a:ea typeface="Times New Roman"/>
                <a:cs typeface="Times New Roman"/>
                <a:sym typeface="Times New Roman"/>
              </a:rPr>
              <a:t>z </a:t>
            </a:r>
            <a:r>
              <a:rPr b="0" i="1" lang="en-US" sz="1900" u="none" cap="none" strike="noStrike">
                <a:solidFill>
                  <a:schemeClr val="dk1"/>
                </a:solidFill>
                <a:latin typeface="Times New Roman"/>
                <a:ea typeface="Times New Roman"/>
                <a:cs typeface="Times New Roman"/>
                <a:sym typeface="Times New Roman"/>
              </a:rPr>
              <a:t> </a:t>
            </a:r>
            <a:r>
              <a:rPr b="0" i="0" lang="en-US" sz="1900" u="none" cap="none" strike="noStrike">
                <a:solidFill>
                  <a:schemeClr val="dk1"/>
                </a:solidFill>
                <a:latin typeface="Times New Roman"/>
                <a:ea typeface="Times New Roman"/>
                <a:cs typeface="Times New Roman"/>
                <a:sym typeface="Times New Roman"/>
              </a:rPr>
              <a:t>are specifying translation  distance for the coordinate directions x, y, and z,</a:t>
            </a:r>
            <a:r>
              <a:rPr b="0" i="1" lang="en-US" sz="1900" u="none" cap="none" strike="noStrike">
                <a:solidFill>
                  <a:schemeClr val="dk1"/>
                </a:solidFill>
                <a:latin typeface="Times New Roman"/>
                <a:ea typeface="Times New Roman"/>
                <a:cs typeface="Times New Roman"/>
                <a:sym typeface="Times New Roman"/>
              </a:rPr>
              <a:t> </a:t>
            </a:r>
            <a:r>
              <a:rPr b="0" i="0" lang="en-US" sz="1900" u="none" cap="none" strike="noStrike">
                <a:solidFill>
                  <a:schemeClr val="dk1"/>
                </a:solidFill>
                <a:latin typeface="Times New Roman"/>
                <a:ea typeface="Times New Roman"/>
                <a:cs typeface="Times New Roman"/>
                <a:sym typeface="Times New Roman"/>
              </a:rPr>
              <a:t>are assigned any real value.</a:t>
            </a:r>
            <a:r>
              <a:rPr b="0" i="1" lang="en-US" sz="1900" u="none" cap="none" strike="noStrike">
                <a:solidFill>
                  <a:schemeClr val="dk1"/>
                </a:solidFill>
                <a:latin typeface="Times New Roman"/>
                <a:ea typeface="Times New Roman"/>
                <a:cs typeface="Times New Roman"/>
                <a:sym typeface="Times New Roman"/>
              </a:rPr>
              <a:t>  </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900"/>
              <a:buFont typeface="Arial"/>
              <a:buNone/>
            </a:pPr>
            <a:r>
              <a:rPr b="0" i="0" lang="en-US" sz="1900" u="none" cap="none" strike="noStrike">
                <a:solidFill>
                  <a:schemeClr val="dk1"/>
                </a:solidFill>
                <a:latin typeface="Times New Roman"/>
                <a:ea typeface="Times New Roman"/>
                <a:cs typeface="Times New Roman"/>
                <a:sym typeface="Times New Roman"/>
              </a:rPr>
              <a:t> </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42" name="Google Shape;142;g3bb5fbf5691_0_39"/>
          <p:cNvPicPr preferRelativeResize="0"/>
          <p:nvPr/>
        </p:nvPicPr>
        <p:blipFill rotWithShape="1">
          <a:blip r:embed="rId4">
            <a:alphaModFix/>
          </a:blip>
          <a:srcRect b="0" l="0" r="0" t="0"/>
          <a:stretch/>
        </p:blipFill>
        <p:spPr>
          <a:xfrm>
            <a:off x="5153750" y="1039526"/>
            <a:ext cx="2859774" cy="224045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6" name="Shape 146"/>
        <p:cNvGrpSpPr/>
        <p:nvPr/>
      </p:nvGrpSpPr>
      <p:grpSpPr>
        <a:xfrm>
          <a:off x="0" y="0"/>
          <a:ext cx="0" cy="0"/>
          <a:chOff x="0" y="0"/>
          <a:chExt cx="0" cy="0"/>
        </a:xfrm>
      </p:grpSpPr>
      <p:sp>
        <p:nvSpPr>
          <p:cNvPr id="147" name="Google Shape;147;g3bb5fbf5691_0_101"/>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48" name="Google Shape;148;g3bb5fbf5691_0_101"/>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49" name="Google Shape;149;g3bb5fbf5691_0_101"/>
          <p:cNvSpPr txBox="1"/>
          <p:nvPr/>
        </p:nvSpPr>
        <p:spPr>
          <a:xfrm>
            <a:off x="363825" y="168125"/>
            <a:ext cx="7789500" cy="7080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400"/>
              <a:buFont typeface="Arial"/>
              <a:buNone/>
            </a:pPr>
            <a:r>
              <a:rPr b="0" i="0" lang="en-US" sz="3400" u="none" cap="none" strike="noStrike">
                <a:solidFill>
                  <a:schemeClr val="lt1"/>
                </a:solidFill>
                <a:latin typeface="Calibri"/>
                <a:ea typeface="Calibri"/>
                <a:cs typeface="Calibri"/>
                <a:sym typeface="Calibri"/>
              </a:rPr>
              <a:t>2D Transformations (Translation Example)</a:t>
            </a:r>
            <a:endParaRPr b="0" i="0" sz="3400" u="none" cap="none" strike="noStrike">
              <a:solidFill>
                <a:schemeClr val="lt1"/>
              </a:solidFill>
              <a:latin typeface="Calibri"/>
              <a:ea typeface="Calibri"/>
              <a:cs typeface="Calibri"/>
              <a:sym typeface="Calibri"/>
            </a:endParaRPr>
          </a:p>
        </p:txBody>
      </p:sp>
      <p:pic>
        <p:nvPicPr>
          <p:cNvPr id="150" name="Google Shape;150;g3bb5fbf5691_0_101"/>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51" name="Google Shape;151;g3bb5fbf5691_0_101"/>
          <p:cNvSpPr txBox="1"/>
          <p:nvPr/>
        </p:nvSpPr>
        <p:spPr>
          <a:xfrm>
            <a:off x="299775" y="1117250"/>
            <a:ext cx="7957200" cy="908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Perform translation transformation on the following figure where the given translation distances are </a:t>
            </a:r>
            <a:r>
              <a:rPr b="1" i="1" lang="en-US" sz="1900" u="none" cap="none" strike="noStrike">
                <a:solidFill>
                  <a:schemeClr val="dk1"/>
                </a:solidFill>
                <a:latin typeface="Times New Roman"/>
                <a:ea typeface="Times New Roman"/>
                <a:cs typeface="Times New Roman"/>
                <a:sym typeface="Times New Roman"/>
              </a:rPr>
              <a:t>t</a:t>
            </a:r>
            <a:r>
              <a:rPr b="1" baseline="-25000" i="1" lang="en-US" sz="1900" u="none" cap="none" strike="noStrike">
                <a:solidFill>
                  <a:schemeClr val="dk1"/>
                </a:solidFill>
                <a:latin typeface="Times New Roman"/>
                <a:ea typeface="Times New Roman"/>
                <a:cs typeface="Times New Roman"/>
                <a:sym typeface="Times New Roman"/>
              </a:rPr>
              <a:t>x</a:t>
            </a:r>
            <a:r>
              <a:rPr b="0" i="0" lang="en-US" sz="1400" u="none" cap="none" strike="noStrike">
                <a:solidFill>
                  <a:srgbClr val="000000"/>
                </a:solidFill>
                <a:latin typeface="Arial"/>
                <a:ea typeface="Arial"/>
                <a:cs typeface="Arial"/>
                <a:sym typeface="Arial"/>
              </a:rPr>
              <a:t> = 35, </a:t>
            </a:r>
            <a:r>
              <a:rPr b="1" i="1" lang="en-US" sz="1900" u="none" cap="none" strike="noStrike">
                <a:solidFill>
                  <a:schemeClr val="dk1"/>
                </a:solidFill>
                <a:latin typeface="Times New Roman"/>
                <a:ea typeface="Times New Roman"/>
                <a:cs typeface="Times New Roman"/>
                <a:sym typeface="Times New Roman"/>
              </a:rPr>
              <a:t>t</a:t>
            </a:r>
            <a:r>
              <a:rPr b="1" baseline="-25000" i="1" lang="en-US" sz="1900" u="none" cap="none" strike="noStrike">
                <a:solidFill>
                  <a:schemeClr val="dk1"/>
                </a:solidFill>
                <a:latin typeface="Times New Roman"/>
                <a:ea typeface="Times New Roman"/>
                <a:cs typeface="Times New Roman"/>
                <a:sym typeface="Times New Roman"/>
              </a:rPr>
              <a:t>y</a:t>
            </a:r>
            <a:r>
              <a:rPr b="0" i="0" lang="en-US" sz="1400" u="none" cap="none" strike="noStrike">
                <a:solidFill>
                  <a:srgbClr val="000000"/>
                </a:solidFill>
                <a:latin typeface="Arial"/>
                <a:ea typeface="Arial"/>
                <a:cs typeface="Arial"/>
                <a:sym typeface="Arial"/>
              </a:rPr>
              <a:t>= 25, and </a:t>
            </a:r>
            <a:r>
              <a:rPr b="1" i="1" lang="en-US" sz="1900" u="none" cap="none" strike="noStrike">
                <a:solidFill>
                  <a:schemeClr val="dk1"/>
                </a:solidFill>
                <a:latin typeface="Times New Roman"/>
                <a:ea typeface="Times New Roman"/>
                <a:cs typeface="Times New Roman"/>
                <a:sym typeface="Times New Roman"/>
              </a:rPr>
              <a:t>t</a:t>
            </a:r>
            <a:r>
              <a:rPr b="1" baseline="-25000" i="1" lang="en-US" sz="1900" u="none" cap="none" strike="noStrike">
                <a:solidFill>
                  <a:schemeClr val="dk1"/>
                </a:solidFill>
                <a:latin typeface="Times New Roman"/>
                <a:ea typeface="Times New Roman"/>
                <a:cs typeface="Times New Roman"/>
                <a:sym typeface="Times New Roman"/>
              </a:rPr>
              <a:t>z</a:t>
            </a:r>
            <a:r>
              <a:rPr b="0" i="0" lang="en-US" sz="1400" u="none" cap="none" strike="noStrike">
                <a:solidFill>
                  <a:srgbClr val="000000"/>
                </a:solidFill>
                <a:latin typeface="Arial"/>
                <a:ea typeface="Arial"/>
                <a:cs typeface="Arial"/>
                <a:sym typeface="Arial"/>
              </a:rPr>
              <a:t> = 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g3bb5fbf5691_0_101"/>
          <p:cNvSpPr txBox="1"/>
          <p:nvPr/>
        </p:nvSpPr>
        <p:spPr>
          <a:xfrm>
            <a:off x="254375" y="1919775"/>
            <a:ext cx="1777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980000"/>
                </a:solidFill>
                <a:latin typeface="Arial"/>
                <a:ea typeface="Arial"/>
                <a:cs typeface="Arial"/>
                <a:sym typeface="Arial"/>
              </a:rPr>
              <a:t>Solution: </a:t>
            </a:r>
            <a:endParaRPr b="1" i="0" sz="1400" u="none" cap="none" strike="noStrike">
              <a:solidFill>
                <a:srgbClr val="980000"/>
              </a:solidFill>
              <a:latin typeface="Arial"/>
              <a:ea typeface="Arial"/>
              <a:cs typeface="Arial"/>
              <a:sym typeface="Arial"/>
            </a:endParaRPr>
          </a:p>
        </p:txBody>
      </p:sp>
      <p:pic>
        <p:nvPicPr>
          <p:cNvPr id="153" name="Google Shape;153;g3bb5fbf5691_0_101"/>
          <p:cNvPicPr preferRelativeResize="0"/>
          <p:nvPr/>
        </p:nvPicPr>
        <p:blipFill rotWithShape="1">
          <a:blip r:embed="rId4">
            <a:alphaModFix/>
          </a:blip>
          <a:srcRect b="0" l="0" r="0" t="0"/>
          <a:stretch/>
        </p:blipFill>
        <p:spPr>
          <a:xfrm>
            <a:off x="41150" y="4377725"/>
            <a:ext cx="1777500" cy="1326746"/>
          </a:xfrm>
          <a:prstGeom prst="rect">
            <a:avLst/>
          </a:prstGeom>
          <a:noFill/>
          <a:ln>
            <a:noFill/>
          </a:ln>
        </p:spPr>
      </p:pic>
      <p:sp>
        <p:nvSpPr>
          <p:cNvPr id="154" name="Google Shape;154;g3bb5fbf5691_0_101"/>
          <p:cNvSpPr txBox="1"/>
          <p:nvPr/>
        </p:nvSpPr>
        <p:spPr>
          <a:xfrm>
            <a:off x="0" y="3998400"/>
            <a:ext cx="20574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980000"/>
                </a:solidFill>
                <a:latin typeface="Arial"/>
                <a:ea typeface="Arial"/>
                <a:cs typeface="Arial"/>
                <a:sym typeface="Arial"/>
              </a:rPr>
              <a:t>For Point A (10, 5, 8), </a:t>
            </a:r>
            <a:endParaRPr b="1" i="0" sz="1300" u="none" cap="none" strike="noStrike">
              <a:solidFill>
                <a:srgbClr val="980000"/>
              </a:solidFill>
              <a:latin typeface="Arial"/>
              <a:ea typeface="Arial"/>
              <a:cs typeface="Arial"/>
              <a:sym typeface="Arial"/>
            </a:endParaRPr>
          </a:p>
        </p:txBody>
      </p:sp>
      <p:pic>
        <p:nvPicPr>
          <p:cNvPr id="155" name="Google Shape;155;g3bb5fbf5691_0_101"/>
          <p:cNvPicPr preferRelativeResize="0"/>
          <p:nvPr/>
        </p:nvPicPr>
        <p:blipFill rotWithShape="1">
          <a:blip r:embed="rId5">
            <a:alphaModFix/>
          </a:blip>
          <a:srcRect b="0" l="0" r="0" t="0"/>
          <a:stretch/>
        </p:blipFill>
        <p:spPr>
          <a:xfrm>
            <a:off x="299775" y="3075000"/>
            <a:ext cx="4704024" cy="547700"/>
          </a:xfrm>
          <a:prstGeom prst="rect">
            <a:avLst/>
          </a:prstGeom>
          <a:noFill/>
          <a:ln>
            <a:noFill/>
          </a:ln>
        </p:spPr>
      </p:pic>
      <p:pic>
        <p:nvPicPr>
          <p:cNvPr id="156" name="Google Shape;156;g3bb5fbf5691_0_101"/>
          <p:cNvPicPr preferRelativeResize="0"/>
          <p:nvPr/>
        </p:nvPicPr>
        <p:blipFill rotWithShape="1">
          <a:blip r:embed="rId6">
            <a:alphaModFix/>
          </a:blip>
          <a:srcRect b="0" l="0" r="0" t="0"/>
          <a:stretch/>
        </p:blipFill>
        <p:spPr>
          <a:xfrm>
            <a:off x="489400" y="2327625"/>
            <a:ext cx="4171500" cy="632225"/>
          </a:xfrm>
          <a:prstGeom prst="rect">
            <a:avLst/>
          </a:prstGeom>
          <a:noFill/>
          <a:ln>
            <a:noFill/>
          </a:ln>
        </p:spPr>
      </p:pic>
      <p:sp>
        <p:nvSpPr>
          <p:cNvPr id="157" name="Google Shape;157;g3bb5fbf5691_0_101"/>
          <p:cNvSpPr txBox="1"/>
          <p:nvPr/>
        </p:nvSpPr>
        <p:spPr>
          <a:xfrm>
            <a:off x="2084850" y="3990750"/>
            <a:ext cx="1955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980000"/>
                </a:solidFill>
                <a:latin typeface="Arial"/>
                <a:ea typeface="Arial"/>
                <a:cs typeface="Arial"/>
                <a:sym typeface="Arial"/>
              </a:rPr>
              <a:t>For Point B (30, 5, 10),</a:t>
            </a:r>
            <a:r>
              <a:rPr b="1" i="0" lang="en-US" sz="1400" u="none" cap="none" strike="noStrike">
                <a:solidFill>
                  <a:srgbClr val="980000"/>
                </a:solidFill>
                <a:latin typeface="Arial"/>
                <a:ea typeface="Arial"/>
                <a:cs typeface="Arial"/>
                <a:sym typeface="Arial"/>
              </a:rPr>
              <a:t> </a:t>
            </a:r>
            <a:endParaRPr b="1" i="0" sz="1400" u="none" cap="none" strike="noStrike">
              <a:solidFill>
                <a:srgbClr val="980000"/>
              </a:solidFill>
              <a:latin typeface="Arial"/>
              <a:ea typeface="Arial"/>
              <a:cs typeface="Arial"/>
              <a:sym typeface="Arial"/>
            </a:endParaRPr>
          </a:p>
        </p:txBody>
      </p:sp>
      <p:pic>
        <p:nvPicPr>
          <p:cNvPr id="158" name="Google Shape;158;g3bb5fbf5691_0_101"/>
          <p:cNvPicPr preferRelativeResize="0"/>
          <p:nvPr/>
        </p:nvPicPr>
        <p:blipFill rotWithShape="1">
          <a:blip r:embed="rId7">
            <a:alphaModFix/>
          </a:blip>
          <a:srcRect b="0" l="0" r="0" t="0"/>
          <a:stretch/>
        </p:blipFill>
        <p:spPr>
          <a:xfrm>
            <a:off x="2182769" y="4411350"/>
            <a:ext cx="1714500" cy="1409700"/>
          </a:xfrm>
          <a:prstGeom prst="rect">
            <a:avLst/>
          </a:prstGeom>
          <a:noFill/>
          <a:ln>
            <a:noFill/>
          </a:ln>
        </p:spPr>
      </p:pic>
      <p:sp>
        <p:nvSpPr>
          <p:cNvPr id="159" name="Google Shape;159;g3bb5fbf5691_0_101"/>
          <p:cNvSpPr txBox="1"/>
          <p:nvPr/>
        </p:nvSpPr>
        <p:spPr>
          <a:xfrm>
            <a:off x="4040550" y="3998400"/>
            <a:ext cx="20574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980000"/>
                </a:solidFill>
                <a:latin typeface="Arial"/>
                <a:ea typeface="Arial"/>
                <a:cs typeface="Arial"/>
                <a:sym typeface="Arial"/>
              </a:rPr>
              <a:t>For Point C (20, 35, 10), </a:t>
            </a:r>
            <a:endParaRPr b="1" i="0" sz="1300" u="none" cap="none" strike="noStrike">
              <a:solidFill>
                <a:srgbClr val="980000"/>
              </a:solidFill>
              <a:latin typeface="Arial"/>
              <a:ea typeface="Arial"/>
              <a:cs typeface="Arial"/>
              <a:sym typeface="Arial"/>
            </a:endParaRPr>
          </a:p>
        </p:txBody>
      </p:sp>
      <p:pic>
        <p:nvPicPr>
          <p:cNvPr id="160" name="Google Shape;160;g3bb5fbf5691_0_101"/>
          <p:cNvPicPr preferRelativeResize="0"/>
          <p:nvPr/>
        </p:nvPicPr>
        <p:blipFill rotWithShape="1">
          <a:blip r:embed="rId8">
            <a:alphaModFix/>
          </a:blip>
          <a:srcRect b="0" l="0" r="0" t="0"/>
          <a:stretch/>
        </p:blipFill>
        <p:spPr>
          <a:xfrm>
            <a:off x="4068000" y="4411350"/>
            <a:ext cx="1505126" cy="1292537"/>
          </a:xfrm>
          <a:prstGeom prst="rect">
            <a:avLst/>
          </a:prstGeom>
          <a:noFill/>
          <a:ln>
            <a:noFill/>
          </a:ln>
        </p:spPr>
      </p:pic>
      <p:pic>
        <p:nvPicPr>
          <p:cNvPr id="161" name="Google Shape;161;g3bb5fbf5691_0_101"/>
          <p:cNvPicPr preferRelativeResize="0"/>
          <p:nvPr/>
        </p:nvPicPr>
        <p:blipFill rotWithShape="1">
          <a:blip r:embed="rId9">
            <a:alphaModFix/>
          </a:blip>
          <a:srcRect b="0" l="5756" r="3440" t="0"/>
          <a:stretch/>
        </p:blipFill>
        <p:spPr>
          <a:xfrm>
            <a:off x="6350000" y="2797700"/>
            <a:ext cx="2489199" cy="1827500"/>
          </a:xfrm>
          <a:prstGeom prst="rect">
            <a:avLst/>
          </a:prstGeom>
          <a:noFill/>
          <a:ln>
            <a:noFill/>
          </a:ln>
        </p:spPr>
      </p:pic>
      <p:sp>
        <p:nvSpPr>
          <p:cNvPr id="162" name="Google Shape;162;g3bb5fbf5691_0_101"/>
          <p:cNvSpPr txBox="1"/>
          <p:nvPr/>
        </p:nvSpPr>
        <p:spPr>
          <a:xfrm>
            <a:off x="7501125" y="3454688"/>
            <a:ext cx="3639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980000"/>
                </a:solidFill>
                <a:latin typeface="Arial"/>
                <a:ea typeface="Arial"/>
                <a:cs typeface="Arial"/>
                <a:sym typeface="Arial"/>
              </a:rPr>
              <a:t>A′</a:t>
            </a:r>
            <a:endParaRPr b="1" i="0" sz="900" u="none" cap="none" strike="noStrike">
              <a:solidFill>
                <a:srgbClr val="980000"/>
              </a:solidFill>
              <a:latin typeface="Arial"/>
              <a:ea typeface="Arial"/>
              <a:cs typeface="Arial"/>
              <a:sym typeface="Arial"/>
            </a:endParaRPr>
          </a:p>
        </p:txBody>
      </p:sp>
      <p:sp>
        <p:nvSpPr>
          <p:cNvPr id="163" name="Google Shape;163;g3bb5fbf5691_0_101"/>
          <p:cNvSpPr txBox="1"/>
          <p:nvPr/>
        </p:nvSpPr>
        <p:spPr>
          <a:xfrm>
            <a:off x="8153325" y="3437713"/>
            <a:ext cx="3639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980000"/>
                </a:solidFill>
                <a:latin typeface="Arial"/>
                <a:ea typeface="Arial"/>
                <a:cs typeface="Arial"/>
                <a:sym typeface="Arial"/>
              </a:rPr>
              <a:t>B′</a:t>
            </a:r>
            <a:endParaRPr b="1" i="0" sz="900" u="none" cap="none" strike="noStrike">
              <a:solidFill>
                <a:srgbClr val="980000"/>
              </a:solidFill>
              <a:latin typeface="Arial"/>
              <a:ea typeface="Arial"/>
              <a:cs typeface="Arial"/>
              <a:sym typeface="Arial"/>
            </a:endParaRPr>
          </a:p>
        </p:txBody>
      </p:sp>
      <p:sp>
        <p:nvSpPr>
          <p:cNvPr id="164" name="Google Shape;164;g3bb5fbf5691_0_101"/>
          <p:cNvSpPr txBox="1"/>
          <p:nvPr/>
        </p:nvSpPr>
        <p:spPr>
          <a:xfrm>
            <a:off x="7964575" y="2698025"/>
            <a:ext cx="3639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980000"/>
                </a:solidFill>
                <a:latin typeface="Arial"/>
                <a:ea typeface="Arial"/>
                <a:cs typeface="Arial"/>
                <a:sym typeface="Arial"/>
              </a:rPr>
              <a:t>C′</a:t>
            </a:r>
            <a:endParaRPr b="1" i="0" sz="900" u="none" cap="none" strike="noStrike">
              <a:solidFill>
                <a:srgbClr val="980000"/>
              </a:solidFill>
              <a:latin typeface="Arial"/>
              <a:ea typeface="Arial"/>
              <a:cs typeface="Arial"/>
              <a:sym typeface="Arial"/>
            </a:endParaRPr>
          </a:p>
        </p:txBody>
      </p:sp>
      <p:sp>
        <p:nvSpPr>
          <p:cNvPr id="165" name="Google Shape;165;g3bb5fbf5691_0_101"/>
          <p:cNvSpPr txBox="1"/>
          <p:nvPr/>
        </p:nvSpPr>
        <p:spPr>
          <a:xfrm>
            <a:off x="6546850" y="4078400"/>
            <a:ext cx="3639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980000"/>
                </a:solidFill>
                <a:latin typeface="Arial"/>
                <a:ea typeface="Arial"/>
                <a:cs typeface="Arial"/>
                <a:sym typeface="Arial"/>
              </a:rPr>
              <a:t>A</a:t>
            </a:r>
            <a:endParaRPr b="1" i="0" sz="900" u="none" cap="none" strike="noStrike">
              <a:solidFill>
                <a:srgbClr val="980000"/>
              </a:solidFill>
              <a:latin typeface="Arial"/>
              <a:ea typeface="Arial"/>
              <a:cs typeface="Arial"/>
              <a:sym typeface="Arial"/>
            </a:endParaRPr>
          </a:p>
        </p:txBody>
      </p:sp>
      <p:sp>
        <p:nvSpPr>
          <p:cNvPr id="166" name="Google Shape;166;g3bb5fbf5691_0_101"/>
          <p:cNvSpPr txBox="1"/>
          <p:nvPr/>
        </p:nvSpPr>
        <p:spPr>
          <a:xfrm>
            <a:off x="7501125" y="4088250"/>
            <a:ext cx="3639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980000"/>
                </a:solidFill>
                <a:latin typeface="Arial"/>
                <a:ea typeface="Arial"/>
                <a:cs typeface="Arial"/>
                <a:sym typeface="Arial"/>
              </a:rPr>
              <a:t>B</a:t>
            </a:r>
            <a:endParaRPr b="1" i="0" sz="900" u="none" cap="none" strike="noStrike">
              <a:solidFill>
                <a:srgbClr val="980000"/>
              </a:solidFill>
              <a:latin typeface="Arial"/>
              <a:ea typeface="Arial"/>
              <a:cs typeface="Arial"/>
              <a:sym typeface="Arial"/>
            </a:endParaRPr>
          </a:p>
        </p:txBody>
      </p:sp>
      <p:sp>
        <p:nvSpPr>
          <p:cNvPr id="167" name="Google Shape;167;g3bb5fbf5691_0_101"/>
          <p:cNvSpPr txBox="1"/>
          <p:nvPr/>
        </p:nvSpPr>
        <p:spPr>
          <a:xfrm>
            <a:off x="6848925" y="3187300"/>
            <a:ext cx="3639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980000"/>
                </a:solidFill>
                <a:latin typeface="Arial"/>
                <a:ea typeface="Arial"/>
                <a:cs typeface="Arial"/>
                <a:sym typeface="Arial"/>
              </a:rPr>
              <a:t>C</a:t>
            </a:r>
            <a:endParaRPr b="1" i="0" sz="900" u="none" cap="none" strike="noStrike">
              <a:solidFill>
                <a:srgbClr val="98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1" name="Shape 171"/>
        <p:cNvGrpSpPr/>
        <p:nvPr/>
      </p:nvGrpSpPr>
      <p:grpSpPr>
        <a:xfrm>
          <a:off x="0" y="0"/>
          <a:ext cx="0" cy="0"/>
          <a:chOff x="0" y="0"/>
          <a:chExt cx="0" cy="0"/>
        </a:xfrm>
      </p:grpSpPr>
      <p:sp>
        <p:nvSpPr>
          <p:cNvPr id="172" name="Google Shape;172;g3bb5fbf5691_0_121"/>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73" name="Google Shape;173;g3bb5fbf5691_0_121"/>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3D Transformations (Scaling)</a:t>
            </a:r>
            <a:endParaRPr b="0" i="0" sz="3800" u="none" cap="none" strike="noStrike">
              <a:solidFill>
                <a:schemeClr val="lt1"/>
              </a:solidFill>
              <a:latin typeface="Calibri"/>
              <a:ea typeface="Calibri"/>
              <a:cs typeface="Calibri"/>
              <a:sym typeface="Calibri"/>
            </a:endParaRPr>
          </a:p>
        </p:txBody>
      </p:sp>
      <p:pic>
        <p:nvPicPr>
          <p:cNvPr id="174" name="Google Shape;174;g3bb5fbf5691_0_121"/>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75" name="Google Shape;175;g3bb5fbf5691_0_121"/>
          <p:cNvSpPr txBox="1"/>
          <p:nvPr/>
        </p:nvSpPr>
        <p:spPr>
          <a:xfrm>
            <a:off x="118250" y="1136975"/>
            <a:ext cx="8722500" cy="12366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1000"/>
              </a:spcBef>
              <a:spcAft>
                <a:spcPts val="0"/>
              </a:spcAft>
              <a:buClr>
                <a:srgbClr val="0B5394"/>
              </a:buClr>
              <a:buSzPts val="2000"/>
              <a:buFont typeface="Times New Roman"/>
              <a:buChar char="■"/>
            </a:pPr>
            <a:r>
              <a:rPr b="0" i="0" lang="en-US" sz="2000" u="none" cap="none" strike="noStrike">
                <a:solidFill>
                  <a:srgbClr val="434343"/>
                </a:solidFill>
                <a:latin typeface="Times New Roman"/>
                <a:ea typeface="Times New Roman"/>
                <a:cs typeface="Times New Roman"/>
                <a:sym typeface="Times New Roman"/>
              </a:rPr>
              <a:t>Changes the size of the object and repositions the object relative to the coordinate origin.</a:t>
            </a:r>
            <a:endParaRPr b="0" i="0" sz="2000" u="none" cap="none" strike="noStrike">
              <a:solidFill>
                <a:srgbClr val="434343"/>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000"/>
              <a:buFont typeface="Arial"/>
              <a:buNone/>
            </a:pPr>
            <a:r>
              <a:t/>
            </a:r>
            <a:endParaRPr b="0" i="0" sz="2000" u="none" cap="none" strike="noStrike">
              <a:solidFill>
                <a:srgbClr val="434343"/>
              </a:solidFill>
              <a:latin typeface="Times New Roman"/>
              <a:ea typeface="Times New Roman"/>
              <a:cs typeface="Times New Roman"/>
              <a:sym typeface="Times New Roman"/>
            </a:endParaRPr>
          </a:p>
        </p:txBody>
      </p:sp>
      <p:sp>
        <p:nvSpPr>
          <p:cNvPr id="176" name="Google Shape;176;g3bb5fbf5691_0_121"/>
          <p:cNvSpPr txBox="1"/>
          <p:nvPr/>
        </p:nvSpPr>
        <p:spPr>
          <a:xfrm>
            <a:off x="4245825" y="3949501"/>
            <a:ext cx="2706600" cy="463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980000"/>
                </a:solidFill>
                <a:latin typeface="Times New Roman"/>
                <a:ea typeface="Times New Roman"/>
                <a:cs typeface="Times New Roman"/>
                <a:sym typeface="Times New Roman"/>
              </a:rPr>
              <a:t>Scaling of objects</a:t>
            </a:r>
            <a:endParaRPr b="1" i="0" sz="1800" u="none" cap="none" strike="noStrike">
              <a:solidFill>
                <a:srgbClr val="980000"/>
              </a:solidFill>
              <a:latin typeface="Times New Roman"/>
              <a:ea typeface="Times New Roman"/>
              <a:cs typeface="Times New Roman"/>
              <a:sym typeface="Times New Roman"/>
            </a:endParaRPr>
          </a:p>
        </p:txBody>
      </p:sp>
      <p:pic>
        <p:nvPicPr>
          <p:cNvPr id="177" name="Google Shape;177;g3bb5fbf5691_0_121"/>
          <p:cNvPicPr preferRelativeResize="0"/>
          <p:nvPr/>
        </p:nvPicPr>
        <p:blipFill rotWithShape="1">
          <a:blip r:embed="rId4">
            <a:alphaModFix/>
          </a:blip>
          <a:srcRect b="0" l="0" r="0" t="0"/>
          <a:stretch/>
        </p:blipFill>
        <p:spPr>
          <a:xfrm>
            <a:off x="1062152" y="2329601"/>
            <a:ext cx="2703952" cy="1710077"/>
          </a:xfrm>
          <a:prstGeom prst="rect">
            <a:avLst/>
          </a:prstGeom>
          <a:noFill/>
          <a:ln>
            <a:noFill/>
          </a:ln>
        </p:spPr>
      </p:pic>
      <p:pic>
        <p:nvPicPr>
          <p:cNvPr id="178" name="Google Shape;178;g3bb5fbf5691_0_121"/>
          <p:cNvPicPr preferRelativeResize="0"/>
          <p:nvPr/>
        </p:nvPicPr>
        <p:blipFill rotWithShape="1">
          <a:blip r:embed="rId5">
            <a:alphaModFix/>
          </a:blip>
          <a:srcRect b="25311" l="28036" r="0" t="8545"/>
          <a:stretch/>
        </p:blipFill>
        <p:spPr>
          <a:xfrm>
            <a:off x="4570425" y="2016750"/>
            <a:ext cx="2057399" cy="1718825"/>
          </a:xfrm>
          <a:prstGeom prst="rect">
            <a:avLst/>
          </a:prstGeom>
          <a:noFill/>
          <a:ln>
            <a:noFill/>
          </a:ln>
        </p:spPr>
      </p:pic>
      <p:sp>
        <p:nvSpPr>
          <p:cNvPr id="179" name="Google Shape;179;g3bb5fbf5691_0_121"/>
          <p:cNvSpPr txBox="1"/>
          <p:nvPr/>
        </p:nvSpPr>
        <p:spPr>
          <a:xfrm>
            <a:off x="401000" y="4233400"/>
            <a:ext cx="8157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The equations for scaling, </a:t>
            </a:r>
            <a:endParaRPr b="0" i="0" sz="1800" u="none" cap="none" strike="noStrike">
              <a:solidFill>
                <a:schemeClr val="dk1"/>
              </a:solidFill>
              <a:latin typeface="Times New Roman"/>
              <a:ea typeface="Times New Roman"/>
              <a:cs typeface="Times New Roman"/>
              <a:sym typeface="Times New Roman"/>
            </a:endParaRPr>
          </a:p>
        </p:txBody>
      </p:sp>
      <p:pic>
        <p:nvPicPr>
          <p:cNvPr id="180" name="Google Shape;180;g3bb5fbf5691_0_121"/>
          <p:cNvPicPr preferRelativeResize="0"/>
          <p:nvPr/>
        </p:nvPicPr>
        <p:blipFill rotWithShape="1">
          <a:blip r:embed="rId6">
            <a:alphaModFix/>
          </a:blip>
          <a:srcRect b="0" l="0" r="0" t="0"/>
          <a:stretch/>
        </p:blipFill>
        <p:spPr>
          <a:xfrm>
            <a:off x="2956900" y="4923475"/>
            <a:ext cx="3657875" cy="1551825"/>
          </a:xfrm>
          <a:prstGeom prst="rect">
            <a:avLst/>
          </a:prstGeom>
          <a:noFill/>
          <a:ln>
            <a:noFill/>
          </a:ln>
        </p:spPr>
      </p:pic>
      <p:pic>
        <p:nvPicPr>
          <p:cNvPr id="181" name="Google Shape;181;g3bb5fbf5691_0_121"/>
          <p:cNvPicPr preferRelativeResize="0"/>
          <p:nvPr/>
        </p:nvPicPr>
        <p:blipFill rotWithShape="1">
          <a:blip r:embed="rId7">
            <a:alphaModFix/>
          </a:blip>
          <a:srcRect b="0" l="0" r="0" t="0"/>
          <a:stretch/>
        </p:blipFill>
        <p:spPr>
          <a:xfrm>
            <a:off x="767525" y="4868075"/>
            <a:ext cx="2057400" cy="1662625"/>
          </a:xfrm>
          <a:prstGeom prst="rect">
            <a:avLst/>
          </a:prstGeom>
          <a:noFill/>
          <a:ln>
            <a:noFill/>
          </a:ln>
        </p:spPr>
      </p:pic>
      <p:pic>
        <p:nvPicPr>
          <p:cNvPr id="182" name="Google Shape;182;g3bb5fbf5691_0_121" title="affine-space-scaling.gif"/>
          <p:cNvPicPr preferRelativeResize="0"/>
          <p:nvPr/>
        </p:nvPicPr>
        <p:blipFill rotWithShape="1">
          <a:blip r:embed="rId8">
            <a:alphaModFix/>
          </a:blip>
          <a:srcRect b="0" l="0" r="0" t="0"/>
          <a:stretch/>
        </p:blipFill>
        <p:spPr>
          <a:xfrm>
            <a:off x="6614775" y="3558925"/>
            <a:ext cx="2373600" cy="2263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6" name="Shape 186"/>
        <p:cNvGrpSpPr/>
        <p:nvPr/>
      </p:nvGrpSpPr>
      <p:grpSpPr>
        <a:xfrm>
          <a:off x="0" y="0"/>
          <a:ext cx="0" cy="0"/>
          <a:chOff x="0" y="0"/>
          <a:chExt cx="0" cy="0"/>
        </a:xfrm>
      </p:grpSpPr>
      <p:sp>
        <p:nvSpPr>
          <p:cNvPr id="187" name="Google Shape;187;g3bb5fbf5691_0_190"/>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88" name="Google Shape;188;g3bb5fbf5691_0_190"/>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89" name="Google Shape;189;g3bb5fbf5691_0_190"/>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3D Transformations (Scaling Example)</a:t>
            </a:r>
            <a:endParaRPr b="0" i="0" sz="3800" u="none" cap="none" strike="noStrike">
              <a:solidFill>
                <a:schemeClr val="lt1"/>
              </a:solidFill>
              <a:latin typeface="Calibri"/>
              <a:ea typeface="Calibri"/>
              <a:cs typeface="Calibri"/>
              <a:sym typeface="Calibri"/>
            </a:endParaRPr>
          </a:p>
        </p:txBody>
      </p:sp>
      <p:pic>
        <p:nvPicPr>
          <p:cNvPr id="190" name="Google Shape;190;g3bb5fbf5691_0_190"/>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91" name="Google Shape;191;g3bb5fbf5691_0_190"/>
          <p:cNvSpPr txBox="1"/>
          <p:nvPr/>
        </p:nvSpPr>
        <p:spPr>
          <a:xfrm>
            <a:off x="215900" y="1143000"/>
            <a:ext cx="84456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Consider the above problem where a cube "OABCDEFG" is given with O(0, 0, 0), A(0, 4, 0), B(0, 4, 4), C(4, 4, 0), D(4, 4, 4), E(4, 0, 0), F(0, 0, 4), and G(4, 0, 4), 4) and we are given the scaling factors Sx, Sy, and Sz. Perform a scaling operation  over the cube.</a:t>
            </a:r>
            <a:endParaRPr b="0" i="0" sz="1400" u="none" cap="none" strike="noStrike">
              <a:solidFill>
                <a:srgbClr val="000000"/>
              </a:solidFill>
              <a:latin typeface="Arial"/>
              <a:ea typeface="Arial"/>
              <a:cs typeface="Arial"/>
              <a:sym typeface="Arial"/>
            </a:endParaRPr>
          </a:p>
        </p:txBody>
      </p:sp>
      <p:sp>
        <p:nvSpPr>
          <p:cNvPr id="192" name="Google Shape;192;g3bb5fbf5691_0_190"/>
          <p:cNvSpPr txBox="1"/>
          <p:nvPr/>
        </p:nvSpPr>
        <p:spPr>
          <a:xfrm>
            <a:off x="363825" y="2179675"/>
            <a:ext cx="6576300" cy="1785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900"/>
              <a:buFont typeface="Arial"/>
              <a:buNone/>
            </a:pPr>
            <a:r>
              <a:rPr b="0" i="0" lang="en-US" sz="1900" u="none" cap="none" strike="noStrike">
                <a:solidFill>
                  <a:schemeClr val="dk1"/>
                </a:solidFill>
                <a:latin typeface="Times New Roman"/>
                <a:ea typeface="Times New Roman"/>
                <a:cs typeface="Times New Roman"/>
                <a:sym typeface="Times New Roman"/>
              </a:rPr>
              <a:t>Scaling factors: S</a:t>
            </a:r>
            <a:r>
              <a:rPr b="0" baseline="-25000" i="0" lang="en-US" sz="1900" u="none" cap="none" strike="noStrike">
                <a:solidFill>
                  <a:schemeClr val="dk1"/>
                </a:solidFill>
                <a:latin typeface="Times New Roman"/>
                <a:ea typeface="Times New Roman"/>
                <a:cs typeface="Times New Roman"/>
                <a:sym typeface="Times New Roman"/>
              </a:rPr>
              <a:t>x</a:t>
            </a:r>
            <a:r>
              <a:rPr b="0" i="0" lang="en-US" sz="1900" u="none" cap="none" strike="noStrike">
                <a:solidFill>
                  <a:schemeClr val="dk1"/>
                </a:solidFill>
                <a:latin typeface="Times New Roman"/>
                <a:ea typeface="Times New Roman"/>
                <a:cs typeface="Times New Roman"/>
                <a:sym typeface="Times New Roman"/>
              </a:rPr>
              <a:t> = 2, S</a:t>
            </a:r>
            <a:r>
              <a:rPr b="0" baseline="-25000" i="0" lang="en-US" sz="1900" u="none" cap="none" strike="noStrike">
                <a:solidFill>
                  <a:schemeClr val="dk1"/>
                </a:solidFill>
                <a:latin typeface="Times New Roman"/>
                <a:ea typeface="Times New Roman"/>
                <a:cs typeface="Times New Roman"/>
                <a:sym typeface="Times New Roman"/>
              </a:rPr>
              <a:t>y</a:t>
            </a:r>
            <a:r>
              <a:rPr b="0" i="0" lang="en-US" sz="1900" u="none" cap="none" strike="noStrike">
                <a:solidFill>
                  <a:schemeClr val="dk1"/>
                </a:solidFill>
                <a:latin typeface="Times New Roman"/>
                <a:ea typeface="Times New Roman"/>
                <a:cs typeface="Times New Roman"/>
                <a:sym typeface="Times New Roman"/>
              </a:rPr>
              <a:t> = 3,  S</a:t>
            </a:r>
            <a:r>
              <a:rPr b="0" baseline="-25000" i="0" lang="en-US" sz="1900" u="none" cap="none" strike="noStrike">
                <a:solidFill>
                  <a:schemeClr val="dk1"/>
                </a:solidFill>
                <a:latin typeface="Times New Roman"/>
                <a:ea typeface="Times New Roman"/>
                <a:cs typeface="Times New Roman"/>
                <a:sym typeface="Times New Roman"/>
              </a:rPr>
              <a:t>z </a:t>
            </a:r>
            <a:r>
              <a:rPr b="0" i="0" lang="en-US" sz="1900" u="none" cap="none" strike="noStrike">
                <a:solidFill>
                  <a:schemeClr val="dk1"/>
                </a:solidFill>
                <a:latin typeface="Times New Roman"/>
                <a:ea typeface="Times New Roman"/>
                <a:cs typeface="Times New Roman"/>
                <a:sym typeface="Times New Roman"/>
              </a:rPr>
              <a:t>= 2</a:t>
            </a:r>
            <a:endParaRPr b="0" i="0" sz="19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115000"/>
              </a:lnSpc>
              <a:spcBef>
                <a:spcPts val="80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193" name="Google Shape;193;g3bb5fbf5691_0_190"/>
          <p:cNvSpPr txBox="1"/>
          <p:nvPr/>
        </p:nvSpPr>
        <p:spPr>
          <a:xfrm>
            <a:off x="5225925" y="3235775"/>
            <a:ext cx="1714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2200"/>
              <a:buFont typeface="Arial"/>
              <a:buNone/>
            </a:pPr>
            <a:r>
              <a:rPr b="0" i="0" lang="en-US" sz="2200" u="none" cap="none" strike="noStrike">
                <a:solidFill>
                  <a:schemeClr val="dk1"/>
                </a:solidFill>
                <a:latin typeface="Times New Roman"/>
                <a:ea typeface="Times New Roman"/>
                <a:cs typeface="Times New Roman"/>
                <a:sym typeface="Times New Roman"/>
              </a:rPr>
              <a:t>P' = S × P</a:t>
            </a:r>
            <a:endParaRPr b="0" i="0" sz="2200" u="none" cap="none" strike="noStrike">
              <a:solidFill>
                <a:srgbClr val="000000"/>
              </a:solidFill>
              <a:latin typeface="Times New Roman"/>
              <a:ea typeface="Times New Roman"/>
              <a:cs typeface="Times New Roman"/>
              <a:sym typeface="Times New Roman"/>
            </a:endParaRPr>
          </a:p>
        </p:txBody>
      </p:sp>
      <p:sp>
        <p:nvSpPr>
          <p:cNvPr id="194" name="Google Shape;194;g3bb5fbf5691_0_190"/>
          <p:cNvSpPr txBox="1"/>
          <p:nvPr/>
        </p:nvSpPr>
        <p:spPr>
          <a:xfrm>
            <a:off x="393875" y="4136575"/>
            <a:ext cx="30000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Times New Roman"/>
                <a:ea typeface="Times New Roman"/>
                <a:cs typeface="Times New Roman"/>
                <a:sym typeface="Times New Roman"/>
              </a:rPr>
              <a:t>For a point P(x,y,z), </a:t>
            </a:r>
            <a:endParaRPr b="0" i="0" sz="1900" u="none" cap="none" strike="noStrike">
              <a:solidFill>
                <a:srgbClr val="000000"/>
              </a:solidFill>
              <a:latin typeface="Times New Roman"/>
              <a:ea typeface="Times New Roman"/>
              <a:cs typeface="Times New Roman"/>
              <a:sym typeface="Times New Roman"/>
            </a:endParaRPr>
          </a:p>
        </p:txBody>
      </p:sp>
      <p:pic>
        <p:nvPicPr>
          <p:cNvPr id="195" name="Google Shape;195;g3bb5fbf5691_0_190"/>
          <p:cNvPicPr preferRelativeResize="0"/>
          <p:nvPr/>
        </p:nvPicPr>
        <p:blipFill rotWithShape="1">
          <a:blip r:embed="rId4">
            <a:alphaModFix/>
          </a:blip>
          <a:srcRect b="0" l="0" r="0" t="0"/>
          <a:stretch/>
        </p:blipFill>
        <p:spPr>
          <a:xfrm>
            <a:off x="1090000" y="4621050"/>
            <a:ext cx="1753125" cy="1662625"/>
          </a:xfrm>
          <a:prstGeom prst="rect">
            <a:avLst/>
          </a:prstGeom>
          <a:noFill/>
          <a:ln>
            <a:noFill/>
          </a:ln>
        </p:spPr>
      </p:pic>
      <p:sp>
        <p:nvSpPr>
          <p:cNvPr id="196" name="Google Shape;196;g3bb5fbf5691_0_190"/>
          <p:cNvSpPr txBox="1"/>
          <p:nvPr/>
        </p:nvSpPr>
        <p:spPr>
          <a:xfrm>
            <a:off x="4859650" y="2434325"/>
            <a:ext cx="30000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Times New Roman"/>
                <a:ea typeface="Times New Roman"/>
                <a:cs typeface="Times New Roman"/>
                <a:sym typeface="Times New Roman"/>
              </a:rPr>
              <a:t>Transformation Equation, </a:t>
            </a:r>
            <a:endParaRPr b="0" i="0" sz="1900" u="none" cap="none" strike="noStrike">
              <a:solidFill>
                <a:srgbClr val="000000"/>
              </a:solidFill>
              <a:latin typeface="Times New Roman"/>
              <a:ea typeface="Times New Roman"/>
              <a:cs typeface="Times New Roman"/>
              <a:sym typeface="Times New Roman"/>
            </a:endParaRPr>
          </a:p>
        </p:txBody>
      </p:sp>
      <p:pic>
        <p:nvPicPr>
          <p:cNvPr id="197" name="Google Shape;197;g3bb5fbf5691_0_190"/>
          <p:cNvPicPr preferRelativeResize="0"/>
          <p:nvPr/>
        </p:nvPicPr>
        <p:blipFill rotWithShape="1">
          <a:blip r:embed="rId5">
            <a:alphaModFix/>
          </a:blip>
          <a:srcRect b="0" l="0" r="0" t="0"/>
          <a:stretch/>
        </p:blipFill>
        <p:spPr>
          <a:xfrm>
            <a:off x="812150" y="2837350"/>
            <a:ext cx="2541516" cy="1183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1" name="Shape 201"/>
        <p:cNvGrpSpPr/>
        <p:nvPr/>
      </p:nvGrpSpPr>
      <p:grpSpPr>
        <a:xfrm>
          <a:off x="0" y="0"/>
          <a:ext cx="0" cy="0"/>
          <a:chOff x="0" y="0"/>
          <a:chExt cx="0" cy="0"/>
        </a:xfrm>
      </p:grpSpPr>
      <p:sp>
        <p:nvSpPr>
          <p:cNvPr id="202" name="Google Shape;202;g3bc93f8e738_0_80"/>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03" name="Google Shape;203;g3bc93f8e738_0_80"/>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04" name="Google Shape;204;g3bc93f8e738_0_80"/>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3D Transformations (Scaling Example)</a:t>
            </a:r>
            <a:endParaRPr b="0" i="0" sz="3800" u="none" cap="none" strike="noStrike">
              <a:solidFill>
                <a:schemeClr val="lt1"/>
              </a:solidFill>
              <a:latin typeface="Calibri"/>
              <a:ea typeface="Calibri"/>
              <a:cs typeface="Calibri"/>
              <a:sym typeface="Calibri"/>
            </a:endParaRPr>
          </a:p>
        </p:txBody>
      </p:sp>
      <p:pic>
        <p:nvPicPr>
          <p:cNvPr id="205" name="Google Shape;205;g3bc93f8e738_0_80"/>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06" name="Google Shape;206;g3bc93f8e738_0_80"/>
          <p:cNvSpPr txBox="1"/>
          <p:nvPr/>
        </p:nvSpPr>
        <p:spPr>
          <a:xfrm>
            <a:off x="225000" y="1013713"/>
            <a:ext cx="84456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imes New Roman"/>
                <a:ea typeface="Times New Roman"/>
                <a:cs typeface="Times New Roman"/>
                <a:sym typeface="Times New Roman"/>
              </a:rPr>
              <a:t>Consider the above problem where a cube "OABCDEFG" is given with O(0, 0, 0), A(0, 4, 0), B(0, 4, 4), C(4, 4, 0), D(4, 4, 4), E(4, 0, 0), F(0, 0, 4), and G(4, 0, 4), 4) and we are given the scaling factors Sx, Sy, and Sz. Perform a scaling operation  over the cube.</a:t>
            </a:r>
            <a:endParaRPr b="0" i="0" sz="1600" u="none" cap="none" strike="noStrike">
              <a:solidFill>
                <a:srgbClr val="000000"/>
              </a:solidFill>
              <a:latin typeface="Times New Roman"/>
              <a:ea typeface="Times New Roman"/>
              <a:cs typeface="Times New Roman"/>
              <a:sym typeface="Times New Roman"/>
            </a:endParaRPr>
          </a:p>
        </p:txBody>
      </p:sp>
      <p:sp>
        <p:nvSpPr>
          <p:cNvPr id="207" name="Google Shape;207;g3bc93f8e738_0_80"/>
          <p:cNvSpPr txBox="1"/>
          <p:nvPr/>
        </p:nvSpPr>
        <p:spPr>
          <a:xfrm>
            <a:off x="363825" y="2016550"/>
            <a:ext cx="2588400" cy="1957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700"/>
              <a:buFont typeface="Arial"/>
              <a:buNone/>
            </a:pPr>
            <a:r>
              <a:rPr b="1" i="0" lang="en-US" sz="1700" u="none" cap="none" strike="noStrike">
                <a:solidFill>
                  <a:srgbClr val="980000"/>
                </a:solidFill>
                <a:latin typeface="Times New Roman"/>
                <a:ea typeface="Times New Roman"/>
                <a:cs typeface="Times New Roman"/>
                <a:sym typeface="Times New Roman"/>
              </a:rPr>
              <a:t>For point O (0,0,0)</a:t>
            </a:r>
            <a:endParaRPr b="1" i="0" sz="1700" u="none" cap="none" strike="noStrike">
              <a:solidFill>
                <a:srgbClr val="980000"/>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x' = 2 × x = 2 × 0 = 0</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y' = 3 × y = 3 × 0 = 0</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z' = 2 × z = 2 × 0 = 0</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700"/>
              <a:buFont typeface="Arial"/>
              <a:buNone/>
            </a:pPr>
            <a:r>
              <a:rPr b="1" i="0" lang="en-US" sz="1700" u="none" cap="none" strike="noStrike">
                <a:solidFill>
                  <a:srgbClr val="0B5394"/>
                </a:solidFill>
                <a:latin typeface="Times New Roman"/>
                <a:ea typeface="Times New Roman"/>
                <a:cs typeface="Times New Roman"/>
                <a:sym typeface="Times New Roman"/>
              </a:rPr>
              <a:t>Scaled Point O' (0, 0, 0)</a:t>
            </a:r>
            <a:endParaRPr b="1" i="0" sz="1700" u="none" cap="none" strike="noStrike">
              <a:solidFill>
                <a:srgbClr val="0B5394"/>
              </a:solidFill>
              <a:latin typeface="Times New Roman"/>
              <a:ea typeface="Times New Roman"/>
              <a:cs typeface="Times New Roman"/>
              <a:sym typeface="Times New Roman"/>
            </a:endParaRPr>
          </a:p>
        </p:txBody>
      </p:sp>
      <p:sp>
        <p:nvSpPr>
          <p:cNvPr id="208" name="Google Shape;208;g3bc93f8e738_0_80"/>
          <p:cNvSpPr txBox="1"/>
          <p:nvPr/>
        </p:nvSpPr>
        <p:spPr>
          <a:xfrm>
            <a:off x="3153600" y="2016550"/>
            <a:ext cx="3613500" cy="1957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700"/>
              <a:buFont typeface="Arial"/>
              <a:buNone/>
            </a:pPr>
            <a:r>
              <a:rPr b="1" i="0" lang="en-US" sz="1700" u="none" cap="none" strike="noStrike">
                <a:solidFill>
                  <a:srgbClr val="980000"/>
                </a:solidFill>
                <a:latin typeface="Times New Roman"/>
                <a:ea typeface="Times New Roman"/>
                <a:cs typeface="Times New Roman"/>
                <a:sym typeface="Times New Roman"/>
              </a:rPr>
              <a:t>For point A (0, 4, 0)</a:t>
            </a:r>
            <a:endParaRPr b="1" i="0" sz="1700" u="none" cap="none" strike="noStrike">
              <a:solidFill>
                <a:srgbClr val="980000"/>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x' = 2 × x = 2 × 0 = 0</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y' = 3 × y = 3 × 4 = 12</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z' = 2 × z = 2 × 0 = 0</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700"/>
              <a:buFont typeface="Arial"/>
              <a:buNone/>
            </a:pPr>
            <a:r>
              <a:rPr b="1" i="0" lang="en-US" sz="1700" u="none" cap="none" strike="noStrike">
                <a:solidFill>
                  <a:srgbClr val="0B5394"/>
                </a:solidFill>
                <a:latin typeface="Times New Roman"/>
                <a:ea typeface="Times New Roman"/>
                <a:cs typeface="Times New Roman"/>
                <a:sym typeface="Times New Roman"/>
              </a:rPr>
              <a:t>Scaled Point A' (0, 12, 0)</a:t>
            </a:r>
            <a:endParaRPr b="1" i="0" sz="1700" u="none" cap="none" strike="noStrike">
              <a:solidFill>
                <a:srgbClr val="0B5394"/>
              </a:solidFill>
              <a:latin typeface="Times New Roman"/>
              <a:ea typeface="Times New Roman"/>
              <a:cs typeface="Times New Roman"/>
              <a:sym typeface="Times New Roman"/>
            </a:endParaRPr>
          </a:p>
        </p:txBody>
      </p:sp>
      <p:sp>
        <p:nvSpPr>
          <p:cNvPr id="209" name="Google Shape;209;g3bc93f8e738_0_80"/>
          <p:cNvSpPr txBox="1"/>
          <p:nvPr/>
        </p:nvSpPr>
        <p:spPr>
          <a:xfrm>
            <a:off x="5670600" y="2016575"/>
            <a:ext cx="3000000" cy="1957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700"/>
              <a:buFont typeface="Arial"/>
              <a:buNone/>
            </a:pPr>
            <a:r>
              <a:rPr b="1" i="0" lang="en-US" sz="1700" u="none" cap="none" strike="noStrike">
                <a:solidFill>
                  <a:srgbClr val="980000"/>
                </a:solidFill>
                <a:latin typeface="Times New Roman"/>
                <a:ea typeface="Times New Roman"/>
                <a:cs typeface="Times New Roman"/>
                <a:sym typeface="Times New Roman"/>
              </a:rPr>
              <a:t>For point B (0, 4, 4)</a:t>
            </a:r>
            <a:endParaRPr b="1" i="0" sz="1700" u="none" cap="none" strike="noStrike">
              <a:solidFill>
                <a:srgbClr val="980000"/>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x' = 2 × x = 2 × 0 = 0</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y' = 3 × y = 3 × 4 = 12</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z' = 2 × z = 2 × 4 = 8</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0B5394"/>
                </a:solidFill>
                <a:latin typeface="Times New Roman"/>
                <a:ea typeface="Times New Roman"/>
                <a:cs typeface="Times New Roman"/>
                <a:sym typeface="Times New Roman"/>
              </a:rPr>
              <a:t>Scaled Point B' (0, 12, 8)</a:t>
            </a:r>
            <a:endParaRPr b="1" i="0" sz="1700" u="none" cap="none" strike="noStrike">
              <a:solidFill>
                <a:srgbClr val="0B5394"/>
              </a:solidFill>
              <a:latin typeface="Times New Roman"/>
              <a:ea typeface="Times New Roman"/>
              <a:cs typeface="Times New Roman"/>
              <a:sym typeface="Times New Roman"/>
            </a:endParaRPr>
          </a:p>
        </p:txBody>
      </p:sp>
      <p:sp>
        <p:nvSpPr>
          <p:cNvPr id="210" name="Google Shape;210;g3bc93f8e738_0_80"/>
          <p:cNvSpPr txBox="1"/>
          <p:nvPr/>
        </p:nvSpPr>
        <p:spPr>
          <a:xfrm>
            <a:off x="290675" y="4232275"/>
            <a:ext cx="3086100" cy="1957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700"/>
              <a:buFont typeface="Arial"/>
              <a:buNone/>
            </a:pPr>
            <a:r>
              <a:rPr b="1" i="0" lang="en-US" sz="1700" u="none" cap="none" strike="noStrike">
                <a:solidFill>
                  <a:srgbClr val="980000"/>
                </a:solidFill>
                <a:latin typeface="Times New Roman"/>
                <a:ea typeface="Times New Roman"/>
                <a:cs typeface="Times New Roman"/>
                <a:sym typeface="Times New Roman"/>
              </a:rPr>
              <a:t>For point C (4, 4, 0)</a:t>
            </a:r>
            <a:endParaRPr b="1" i="0" sz="1700" u="none" cap="none" strike="noStrike">
              <a:solidFill>
                <a:srgbClr val="980000"/>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x' = 2 × x = 2 × 4 = 8</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y' = 3 × y = 3 × 4 = 12</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z' = 2 × z = 2 × 0 = 0</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0B5394"/>
                </a:solidFill>
                <a:latin typeface="Times New Roman"/>
                <a:ea typeface="Times New Roman"/>
                <a:cs typeface="Times New Roman"/>
                <a:sym typeface="Times New Roman"/>
              </a:rPr>
              <a:t>Scaled Point C' (8,12,0)</a:t>
            </a:r>
            <a:endParaRPr b="1" i="0" sz="1700" u="none" cap="none" strike="noStrike">
              <a:solidFill>
                <a:srgbClr val="0B5394"/>
              </a:solidFill>
              <a:latin typeface="Times New Roman"/>
              <a:ea typeface="Times New Roman"/>
              <a:cs typeface="Times New Roman"/>
              <a:sym typeface="Times New Roman"/>
            </a:endParaRPr>
          </a:p>
        </p:txBody>
      </p:sp>
      <p:sp>
        <p:nvSpPr>
          <p:cNvPr id="211" name="Google Shape;211;g3bc93f8e738_0_80"/>
          <p:cNvSpPr txBox="1"/>
          <p:nvPr/>
        </p:nvSpPr>
        <p:spPr>
          <a:xfrm>
            <a:off x="2947800" y="4232313"/>
            <a:ext cx="3000000" cy="1855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700"/>
              <a:buFont typeface="Arial"/>
              <a:buNone/>
            </a:pPr>
            <a:r>
              <a:rPr b="1" i="0" lang="en-US" sz="1700" u="none" cap="none" strike="noStrike">
                <a:solidFill>
                  <a:srgbClr val="980000"/>
                </a:solidFill>
                <a:latin typeface="Times New Roman"/>
                <a:ea typeface="Times New Roman"/>
                <a:cs typeface="Times New Roman"/>
                <a:sym typeface="Times New Roman"/>
              </a:rPr>
              <a:t>For point D (4, 4, 4)</a:t>
            </a:r>
            <a:endParaRPr b="1" i="0" sz="1700" u="none" cap="none" strike="noStrike">
              <a:solidFill>
                <a:srgbClr val="980000"/>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x' = 2 × x = 2 × 4  = 8</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y' = 3 × y = 3 × 4 = 12</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z' = 2 × z = 2 × 4 = 8</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700"/>
              <a:buFont typeface="Arial"/>
              <a:buNone/>
            </a:pPr>
            <a:r>
              <a:rPr b="1" i="0" lang="en-US" sz="1700" u="none" cap="none" strike="noStrike">
                <a:solidFill>
                  <a:srgbClr val="0B5394"/>
                </a:solidFill>
                <a:latin typeface="Times New Roman"/>
                <a:ea typeface="Times New Roman"/>
                <a:cs typeface="Times New Roman"/>
                <a:sym typeface="Times New Roman"/>
              </a:rPr>
              <a:t>Scaled Point D' (8, 12, 8)</a:t>
            </a:r>
            <a:endParaRPr b="1" i="0" sz="1700" u="none" cap="none" strike="noStrike">
              <a:solidFill>
                <a:srgbClr val="0B5394"/>
              </a:solidFill>
              <a:latin typeface="Times New Roman"/>
              <a:ea typeface="Times New Roman"/>
              <a:cs typeface="Times New Roman"/>
              <a:sym typeface="Times New Roman"/>
            </a:endParaRPr>
          </a:p>
        </p:txBody>
      </p:sp>
      <p:sp>
        <p:nvSpPr>
          <p:cNvPr id="212" name="Google Shape;212;g3bc93f8e738_0_80"/>
          <p:cNvSpPr txBox="1"/>
          <p:nvPr/>
        </p:nvSpPr>
        <p:spPr>
          <a:xfrm>
            <a:off x="5593375" y="4232325"/>
            <a:ext cx="30000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700"/>
              <a:buFont typeface="Arial"/>
              <a:buNone/>
            </a:pPr>
            <a:r>
              <a:rPr b="1" i="0" lang="en-US" sz="1700" u="none" cap="none" strike="noStrike">
                <a:solidFill>
                  <a:srgbClr val="980000"/>
                </a:solidFill>
                <a:latin typeface="Times New Roman"/>
                <a:ea typeface="Times New Roman"/>
                <a:cs typeface="Times New Roman"/>
                <a:sym typeface="Times New Roman"/>
              </a:rPr>
              <a:t>For Point E (4, 0, 0)</a:t>
            </a:r>
            <a:endParaRPr b="1" i="0" sz="1700" u="none" cap="none" strike="noStrike">
              <a:solidFill>
                <a:srgbClr val="980000"/>
              </a:solidFill>
              <a:latin typeface="Times New Roman"/>
              <a:ea typeface="Times New Roman"/>
              <a:cs typeface="Times New Roman"/>
              <a:sym typeface="Times New Roman"/>
            </a:endParaRPr>
          </a:p>
        </p:txBody>
      </p:sp>
      <p:sp>
        <p:nvSpPr>
          <p:cNvPr id="213" name="Google Shape;213;g3bc93f8e738_0_80"/>
          <p:cNvSpPr txBox="1"/>
          <p:nvPr/>
        </p:nvSpPr>
        <p:spPr>
          <a:xfrm>
            <a:off x="5593375" y="4568925"/>
            <a:ext cx="3000000" cy="1554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x' = 2 × x = 2 × 4  = 8</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y' = 3 × y = 3 × 0 = 0</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z' = 2 × z = 2 × 0 = 0</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700"/>
              <a:buFont typeface="Arial"/>
              <a:buNone/>
            </a:pPr>
            <a:r>
              <a:rPr b="1" i="0" lang="en-US" sz="1700" u="none" cap="none" strike="noStrike">
                <a:solidFill>
                  <a:srgbClr val="0B5394"/>
                </a:solidFill>
                <a:latin typeface="Times New Roman"/>
                <a:ea typeface="Times New Roman"/>
                <a:cs typeface="Times New Roman"/>
                <a:sym typeface="Times New Roman"/>
              </a:rPr>
              <a:t>Scaled Point E' (8,0,0)</a:t>
            </a:r>
            <a:endParaRPr b="1" i="0" sz="1700" u="none" cap="none" strike="noStrike">
              <a:solidFill>
                <a:srgbClr val="0B5394"/>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7" name="Shape 217"/>
        <p:cNvGrpSpPr/>
        <p:nvPr/>
      </p:nvGrpSpPr>
      <p:grpSpPr>
        <a:xfrm>
          <a:off x="0" y="0"/>
          <a:ext cx="0" cy="0"/>
          <a:chOff x="0" y="0"/>
          <a:chExt cx="0" cy="0"/>
        </a:xfrm>
      </p:grpSpPr>
      <p:sp>
        <p:nvSpPr>
          <p:cNvPr id="218" name="Google Shape;218;g3bc93f8e738_0_146"/>
          <p:cNvSpPr txBox="1"/>
          <p:nvPr/>
        </p:nvSpPr>
        <p:spPr>
          <a:xfrm>
            <a:off x="2865450" y="6459375"/>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19" name="Google Shape;219;g3bc93f8e738_0_146"/>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20" name="Google Shape;220;g3bc93f8e738_0_146"/>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3D Transformations (Scaling Example)</a:t>
            </a:r>
            <a:endParaRPr b="0" i="0" sz="3800" u="none" cap="none" strike="noStrike">
              <a:solidFill>
                <a:schemeClr val="lt1"/>
              </a:solidFill>
              <a:latin typeface="Calibri"/>
              <a:ea typeface="Calibri"/>
              <a:cs typeface="Calibri"/>
              <a:sym typeface="Calibri"/>
            </a:endParaRPr>
          </a:p>
        </p:txBody>
      </p:sp>
      <p:pic>
        <p:nvPicPr>
          <p:cNvPr id="221" name="Google Shape;221;g3bc93f8e738_0_146"/>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22" name="Google Shape;222;g3bc93f8e738_0_146"/>
          <p:cNvSpPr txBox="1"/>
          <p:nvPr/>
        </p:nvSpPr>
        <p:spPr>
          <a:xfrm>
            <a:off x="225000" y="1013713"/>
            <a:ext cx="84456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imes New Roman"/>
                <a:ea typeface="Times New Roman"/>
                <a:cs typeface="Times New Roman"/>
                <a:sym typeface="Times New Roman"/>
              </a:rPr>
              <a:t>Consider the above problem where a cube "OABCDEFG" is given with O(0, 0, 0), A(0, 4, 0), B(0, 4, 4), C(4, 4, 0), D(4, 4, 4), E(4, 0, 0), F(0, 0, 4), and G(4, 0, 4)  and we are given the scaling factors Sx, Sy, and Sz. Perform a scaling operation  over the cube.</a:t>
            </a:r>
            <a:endParaRPr b="0" i="0" sz="1600" u="none" cap="none" strike="noStrike">
              <a:solidFill>
                <a:srgbClr val="000000"/>
              </a:solidFill>
              <a:latin typeface="Times New Roman"/>
              <a:ea typeface="Times New Roman"/>
              <a:cs typeface="Times New Roman"/>
              <a:sym typeface="Times New Roman"/>
            </a:endParaRPr>
          </a:p>
        </p:txBody>
      </p:sp>
      <p:sp>
        <p:nvSpPr>
          <p:cNvPr id="223" name="Google Shape;223;g3bc93f8e738_0_146"/>
          <p:cNvSpPr txBox="1"/>
          <p:nvPr/>
        </p:nvSpPr>
        <p:spPr>
          <a:xfrm>
            <a:off x="363825" y="1968888"/>
            <a:ext cx="2588400" cy="1957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700"/>
              <a:buFont typeface="Arial"/>
              <a:buNone/>
            </a:pPr>
            <a:r>
              <a:rPr b="1" i="0" lang="en-US" sz="1700" u="none" cap="none" strike="noStrike">
                <a:solidFill>
                  <a:srgbClr val="980000"/>
                </a:solidFill>
                <a:latin typeface="Times New Roman"/>
                <a:ea typeface="Times New Roman"/>
                <a:cs typeface="Times New Roman"/>
                <a:sym typeface="Times New Roman"/>
              </a:rPr>
              <a:t>For point F (0,0,4)</a:t>
            </a:r>
            <a:endParaRPr b="1" i="0" sz="1700" u="none" cap="none" strike="noStrike">
              <a:solidFill>
                <a:srgbClr val="980000"/>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x' = 2 × x = 2 × 0 = 0</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y' = 3 × y = 3 × 0 = 0</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z' = 2 × z = 2 × 4 = 8</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700"/>
              <a:buFont typeface="Arial"/>
              <a:buNone/>
            </a:pPr>
            <a:r>
              <a:rPr b="1" i="0" lang="en-US" sz="1700" u="none" cap="none" strike="noStrike">
                <a:solidFill>
                  <a:srgbClr val="0B5394"/>
                </a:solidFill>
                <a:latin typeface="Times New Roman"/>
                <a:ea typeface="Times New Roman"/>
                <a:cs typeface="Times New Roman"/>
                <a:sym typeface="Times New Roman"/>
              </a:rPr>
              <a:t>Scaled Point F' (0, 0, 8)</a:t>
            </a:r>
            <a:endParaRPr b="1" i="0" sz="1700" u="none" cap="none" strike="noStrike">
              <a:solidFill>
                <a:srgbClr val="0B5394"/>
              </a:solidFill>
              <a:latin typeface="Times New Roman"/>
              <a:ea typeface="Times New Roman"/>
              <a:cs typeface="Times New Roman"/>
              <a:sym typeface="Times New Roman"/>
            </a:endParaRPr>
          </a:p>
        </p:txBody>
      </p:sp>
      <p:sp>
        <p:nvSpPr>
          <p:cNvPr id="224" name="Google Shape;224;g3bc93f8e738_0_146"/>
          <p:cNvSpPr txBox="1"/>
          <p:nvPr/>
        </p:nvSpPr>
        <p:spPr>
          <a:xfrm>
            <a:off x="3180850" y="1968888"/>
            <a:ext cx="3613500" cy="1957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700"/>
              <a:buFont typeface="Arial"/>
              <a:buNone/>
            </a:pPr>
            <a:r>
              <a:rPr b="1" i="0" lang="en-US" sz="1700" u="none" cap="none" strike="noStrike">
                <a:solidFill>
                  <a:srgbClr val="980000"/>
                </a:solidFill>
                <a:latin typeface="Times New Roman"/>
                <a:ea typeface="Times New Roman"/>
                <a:cs typeface="Times New Roman"/>
                <a:sym typeface="Times New Roman"/>
              </a:rPr>
              <a:t>For point G (4, 0, 4)</a:t>
            </a:r>
            <a:endParaRPr b="1" i="0" sz="1700" u="none" cap="none" strike="noStrike">
              <a:solidFill>
                <a:srgbClr val="980000"/>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x' = 2 × x = 2 × 4 = 8</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y' = 3 × y = 3 × 0 = 0</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z' = 2 × z = 2 × 4 = 8</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700"/>
              <a:buFont typeface="Arial"/>
              <a:buNone/>
            </a:pPr>
            <a:r>
              <a:rPr b="1" i="0" lang="en-US" sz="1700" u="none" cap="none" strike="noStrike">
                <a:solidFill>
                  <a:srgbClr val="0B5394"/>
                </a:solidFill>
                <a:latin typeface="Times New Roman"/>
                <a:ea typeface="Times New Roman"/>
                <a:cs typeface="Times New Roman"/>
                <a:sym typeface="Times New Roman"/>
              </a:rPr>
              <a:t>Scaled Point A' (8, 0, 8)</a:t>
            </a:r>
            <a:endParaRPr b="1" i="0" sz="1700" u="none" cap="none" strike="noStrike">
              <a:solidFill>
                <a:srgbClr val="0B5394"/>
              </a:solidFill>
              <a:latin typeface="Times New Roman"/>
              <a:ea typeface="Times New Roman"/>
              <a:cs typeface="Times New Roman"/>
              <a:sym typeface="Times New Roman"/>
            </a:endParaRPr>
          </a:p>
        </p:txBody>
      </p:sp>
      <p:pic>
        <p:nvPicPr>
          <p:cNvPr id="225" name="Google Shape;225;g3bc93f8e738_0_146"/>
          <p:cNvPicPr preferRelativeResize="0"/>
          <p:nvPr/>
        </p:nvPicPr>
        <p:blipFill rotWithShape="1">
          <a:blip r:embed="rId4">
            <a:alphaModFix/>
          </a:blip>
          <a:srcRect b="0" l="0" r="6059" t="0"/>
          <a:stretch/>
        </p:blipFill>
        <p:spPr>
          <a:xfrm>
            <a:off x="363825" y="4136950"/>
            <a:ext cx="3660150" cy="2246225"/>
          </a:xfrm>
          <a:prstGeom prst="rect">
            <a:avLst/>
          </a:prstGeom>
          <a:noFill/>
          <a:ln>
            <a:noFill/>
          </a:ln>
        </p:spPr>
      </p:pic>
      <p:pic>
        <p:nvPicPr>
          <p:cNvPr id="226" name="Google Shape;226;g3bc93f8e738_0_146"/>
          <p:cNvPicPr preferRelativeResize="0"/>
          <p:nvPr/>
        </p:nvPicPr>
        <p:blipFill rotWithShape="1">
          <a:blip r:embed="rId5">
            <a:alphaModFix/>
          </a:blip>
          <a:srcRect b="0" l="6248" r="3448" t="0"/>
          <a:stretch/>
        </p:blipFill>
        <p:spPr>
          <a:xfrm>
            <a:off x="4532650" y="3924050"/>
            <a:ext cx="3933125" cy="2535325"/>
          </a:xfrm>
          <a:prstGeom prst="rect">
            <a:avLst/>
          </a:prstGeom>
          <a:noFill/>
          <a:ln>
            <a:noFill/>
          </a:ln>
        </p:spPr>
      </p:pic>
      <p:sp>
        <p:nvSpPr>
          <p:cNvPr id="227" name="Google Shape;227;g3bc93f8e738_0_146"/>
          <p:cNvSpPr/>
          <p:nvPr/>
        </p:nvSpPr>
        <p:spPr>
          <a:xfrm>
            <a:off x="3397200" y="5065175"/>
            <a:ext cx="1095300" cy="235500"/>
          </a:xfrm>
          <a:prstGeom prst="rightArrow">
            <a:avLst>
              <a:gd fmla="val 50000" name="adj1"/>
              <a:gd fmla="val 50000" name="adj2"/>
            </a:avLst>
          </a:prstGeom>
          <a:solidFill>
            <a:srgbClr val="0B5394"/>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B5394"/>
              </a:solidFill>
              <a:latin typeface="Calibri"/>
              <a:ea typeface="Calibri"/>
              <a:cs typeface="Calibri"/>
              <a:sym typeface="Calibri"/>
            </a:endParaRPr>
          </a:p>
        </p:txBody>
      </p:sp>
      <p:sp>
        <p:nvSpPr>
          <p:cNvPr id="228" name="Google Shape;228;g3bc93f8e738_0_146"/>
          <p:cNvSpPr txBox="1"/>
          <p:nvPr/>
        </p:nvSpPr>
        <p:spPr>
          <a:xfrm>
            <a:off x="1389900" y="6009800"/>
            <a:ext cx="1608000" cy="16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980000"/>
                </a:solidFill>
                <a:latin typeface="Times New Roman"/>
                <a:ea typeface="Times New Roman"/>
                <a:cs typeface="Times New Roman"/>
                <a:sym typeface="Times New Roman"/>
              </a:rPr>
              <a:t>Before Scaling</a:t>
            </a:r>
            <a:endParaRPr b="1" i="0" sz="1600" u="none" cap="none" strike="noStrike">
              <a:solidFill>
                <a:srgbClr val="980000"/>
              </a:solidFill>
              <a:latin typeface="Times New Roman"/>
              <a:ea typeface="Times New Roman"/>
              <a:cs typeface="Times New Roman"/>
              <a:sym typeface="Times New Roman"/>
            </a:endParaRPr>
          </a:p>
        </p:txBody>
      </p:sp>
      <p:sp>
        <p:nvSpPr>
          <p:cNvPr id="229" name="Google Shape;229;g3bc93f8e738_0_146"/>
          <p:cNvSpPr txBox="1"/>
          <p:nvPr/>
        </p:nvSpPr>
        <p:spPr>
          <a:xfrm>
            <a:off x="6848700" y="5867900"/>
            <a:ext cx="1471800" cy="44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980000"/>
                </a:solidFill>
                <a:latin typeface="Times New Roman"/>
                <a:ea typeface="Times New Roman"/>
                <a:cs typeface="Times New Roman"/>
                <a:sym typeface="Times New Roman"/>
              </a:rPr>
              <a:t>After Scaling</a:t>
            </a:r>
            <a:endParaRPr b="1" i="0" sz="1600" u="none" cap="none" strike="noStrike">
              <a:solidFill>
                <a:srgbClr val="98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3" name="Shape 233"/>
        <p:cNvGrpSpPr/>
        <p:nvPr/>
      </p:nvGrpSpPr>
      <p:grpSpPr>
        <a:xfrm>
          <a:off x="0" y="0"/>
          <a:ext cx="0" cy="0"/>
          <a:chOff x="0" y="0"/>
          <a:chExt cx="0" cy="0"/>
        </a:xfrm>
      </p:grpSpPr>
      <p:sp>
        <p:nvSpPr>
          <p:cNvPr id="234" name="Google Shape;234;g3bb5fbf5691_0_158"/>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35" name="Google Shape;235;g3bb5fbf5691_0_158"/>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36" name="Google Shape;236;g3bb5fbf5691_0_158"/>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3D Transformations (Rotation)</a:t>
            </a:r>
            <a:endParaRPr b="0" i="0" sz="3800" u="none" cap="none" strike="noStrike">
              <a:solidFill>
                <a:schemeClr val="lt1"/>
              </a:solidFill>
              <a:latin typeface="Calibri"/>
              <a:ea typeface="Calibri"/>
              <a:cs typeface="Calibri"/>
              <a:sym typeface="Calibri"/>
            </a:endParaRPr>
          </a:p>
        </p:txBody>
      </p:sp>
      <p:pic>
        <p:nvPicPr>
          <p:cNvPr id="237" name="Google Shape;237;g3bb5fbf5691_0_158"/>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38" name="Google Shape;238;g3bb5fbf5691_0_158"/>
          <p:cNvSpPr txBox="1"/>
          <p:nvPr/>
        </p:nvSpPr>
        <p:spPr>
          <a:xfrm>
            <a:off x="318350" y="1136925"/>
            <a:ext cx="5520900" cy="4926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1000"/>
              </a:spcBef>
              <a:spcAft>
                <a:spcPts val="0"/>
              </a:spcAft>
              <a:buClr>
                <a:srgbClr val="1155CC"/>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X-AXIS ROTATION</a:t>
            </a:r>
            <a:endParaRPr b="0" i="0" sz="2000" u="none" cap="none" strike="noStrike">
              <a:solidFill>
                <a:srgbClr val="000000"/>
              </a:solidFill>
              <a:latin typeface="Times New Roman"/>
              <a:ea typeface="Times New Roman"/>
              <a:cs typeface="Times New Roman"/>
              <a:sym typeface="Times New Roman"/>
            </a:endParaRPr>
          </a:p>
        </p:txBody>
      </p:sp>
      <p:sp>
        <p:nvSpPr>
          <p:cNvPr id="239" name="Google Shape;239;g3bb5fbf5691_0_158"/>
          <p:cNvSpPr/>
          <p:nvPr/>
        </p:nvSpPr>
        <p:spPr>
          <a:xfrm>
            <a:off x="504000" y="1769050"/>
            <a:ext cx="7789500" cy="3741300"/>
          </a:xfrm>
          <a:prstGeom prst="rect">
            <a:avLst/>
          </a:prstGeom>
          <a:noFill/>
          <a:ln>
            <a:noFill/>
          </a:ln>
        </p:spPr>
        <p:txBody>
          <a:bodyPr anchorCtr="0" anchor="t" bIns="0" lIns="0" spcFirstLastPara="1" rIns="0" wrap="square" tIns="0">
            <a:noAutofit/>
          </a:bodyPr>
          <a:lstStyle/>
          <a:p>
            <a:pPr indent="-272879" lvl="0" marL="274320" marR="0" rtl="0" algn="l">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Times New Roman"/>
                <a:ea typeface="Times New Roman"/>
                <a:cs typeface="Times New Roman"/>
                <a:sym typeface="Times New Roman"/>
              </a:rPr>
              <a:t>The equation for X-axis rotation</a:t>
            </a:r>
            <a:endParaRPr b="0" i="0" sz="1800" u="none" cap="none" strike="noStrike">
              <a:solidFill>
                <a:srgbClr val="000000"/>
              </a:solidFill>
              <a:latin typeface="Arial"/>
              <a:ea typeface="Arial"/>
              <a:cs typeface="Arial"/>
              <a:sym typeface="Arial"/>
            </a:endParaRPr>
          </a:p>
          <a:p>
            <a:pPr indent="-272879" lvl="0" marL="274320" marR="0" rtl="0" algn="l">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Times New Roman"/>
                <a:ea typeface="Times New Roman"/>
                <a:cs typeface="Times New Roman"/>
                <a:sym typeface="Times New Roman"/>
              </a:rPr>
              <a:t> </a:t>
            </a:r>
            <a:r>
              <a:rPr b="1" i="0" lang="en-US" sz="2600" u="none" cap="none" strike="noStrike">
                <a:solidFill>
                  <a:srgbClr val="000000"/>
                </a:solidFill>
                <a:latin typeface="Times New Roman"/>
                <a:ea typeface="Times New Roman"/>
                <a:cs typeface="Times New Roman"/>
                <a:sym typeface="Times New Roman"/>
              </a:rPr>
              <a:t>x’ = x</a:t>
            </a:r>
            <a:endParaRPr b="0" i="0" sz="1800" u="none" cap="none" strike="noStrike">
              <a:solidFill>
                <a:srgbClr val="000000"/>
              </a:solidFill>
              <a:latin typeface="Arial"/>
              <a:ea typeface="Arial"/>
              <a:cs typeface="Arial"/>
              <a:sym typeface="Arial"/>
            </a:endParaRPr>
          </a:p>
          <a:p>
            <a:pPr indent="-272879" lvl="0" marL="27432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Times New Roman"/>
                <a:ea typeface="Times New Roman"/>
                <a:cs typeface="Times New Roman"/>
                <a:sym typeface="Times New Roman"/>
              </a:rPr>
              <a:t> y’ = y cosθ – z sinθ</a:t>
            </a:r>
            <a:endParaRPr b="0" i="0" sz="1800" u="none" cap="none" strike="noStrike">
              <a:solidFill>
                <a:srgbClr val="000000"/>
              </a:solidFill>
              <a:latin typeface="Arial"/>
              <a:ea typeface="Arial"/>
              <a:cs typeface="Arial"/>
              <a:sym typeface="Arial"/>
            </a:endParaRPr>
          </a:p>
          <a:p>
            <a:pPr indent="-272879" lvl="0" marL="27432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Times New Roman"/>
                <a:ea typeface="Times New Roman"/>
                <a:cs typeface="Times New Roman"/>
                <a:sym typeface="Times New Roman"/>
              </a:rPr>
              <a:t> z’ = y sinθ + z cosθ </a:t>
            </a:r>
            <a:endParaRPr b="0" i="0" sz="1800" u="none" cap="none" strike="noStrike">
              <a:solidFill>
                <a:srgbClr val="000000"/>
              </a:solidFill>
              <a:latin typeface="Arial"/>
              <a:ea typeface="Arial"/>
              <a:cs typeface="Arial"/>
              <a:sym typeface="Arial"/>
            </a:endParaRPr>
          </a:p>
        </p:txBody>
      </p:sp>
      <p:pic>
        <p:nvPicPr>
          <p:cNvPr id="240" name="Google Shape;240;g3bb5fbf5691_0_158"/>
          <p:cNvPicPr preferRelativeResize="0"/>
          <p:nvPr/>
        </p:nvPicPr>
        <p:blipFill rotWithShape="1">
          <a:blip r:embed="rId4">
            <a:alphaModFix/>
          </a:blip>
          <a:srcRect b="0" l="0" r="0" t="0"/>
          <a:stretch/>
        </p:blipFill>
        <p:spPr>
          <a:xfrm>
            <a:off x="621940" y="3732360"/>
            <a:ext cx="3948481" cy="1675440"/>
          </a:xfrm>
          <a:prstGeom prst="rect">
            <a:avLst/>
          </a:prstGeom>
          <a:noFill/>
          <a:ln>
            <a:noFill/>
          </a:ln>
        </p:spPr>
      </p:pic>
      <p:pic>
        <p:nvPicPr>
          <p:cNvPr id="241" name="Google Shape;241;g3bb5fbf5691_0_158"/>
          <p:cNvPicPr preferRelativeResize="0"/>
          <p:nvPr/>
        </p:nvPicPr>
        <p:blipFill rotWithShape="1">
          <a:blip r:embed="rId5">
            <a:alphaModFix/>
          </a:blip>
          <a:srcRect b="0" l="0" r="0" t="0"/>
          <a:stretch/>
        </p:blipFill>
        <p:spPr>
          <a:xfrm>
            <a:off x="5708440" y="2103120"/>
            <a:ext cx="2806920" cy="2053440"/>
          </a:xfrm>
          <a:prstGeom prst="rect">
            <a:avLst/>
          </a:prstGeom>
          <a:noFill/>
          <a:ln cap="flat" cmpd="sng" w="57225">
            <a:solidFill>
              <a:srgbClr val="FFFFFF"/>
            </a:solidFill>
            <a:prstDash val="solid"/>
            <a:miter lim="8000"/>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5" name="Shape 245"/>
        <p:cNvGrpSpPr/>
        <p:nvPr/>
      </p:nvGrpSpPr>
      <p:grpSpPr>
        <a:xfrm>
          <a:off x="0" y="0"/>
          <a:ext cx="0" cy="0"/>
          <a:chOff x="0" y="0"/>
          <a:chExt cx="0" cy="0"/>
        </a:xfrm>
      </p:grpSpPr>
      <p:sp>
        <p:nvSpPr>
          <p:cNvPr id="246" name="Google Shape;246;g3bb5fbf5691_0_233"/>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47" name="Google Shape;247;g3bb5fbf5691_0_233"/>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48" name="Google Shape;248;g3bb5fbf5691_0_233"/>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3D Transformations (Rotation)</a:t>
            </a:r>
            <a:endParaRPr b="0" i="0" sz="3800" u="none" cap="none" strike="noStrike">
              <a:solidFill>
                <a:schemeClr val="lt1"/>
              </a:solidFill>
              <a:latin typeface="Calibri"/>
              <a:ea typeface="Calibri"/>
              <a:cs typeface="Calibri"/>
              <a:sym typeface="Calibri"/>
            </a:endParaRPr>
          </a:p>
        </p:txBody>
      </p:sp>
      <p:pic>
        <p:nvPicPr>
          <p:cNvPr id="249" name="Google Shape;249;g3bb5fbf5691_0_233"/>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50" name="Google Shape;250;g3bb5fbf5691_0_233"/>
          <p:cNvSpPr txBox="1"/>
          <p:nvPr/>
        </p:nvSpPr>
        <p:spPr>
          <a:xfrm>
            <a:off x="363825" y="5505263"/>
            <a:ext cx="5997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251" name="Google Shape;251;g3bb5fbf5691_0_233"/>
          <p:cNvSpPr txBox="1"/>
          <p:nvPr/>
        </p:nvSpPr>
        <p:spPr>
          <a:xfrm>
            <a:off x="2687625" y="1023550"/>
            <a:ext cx="37656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2300" u="none" cap="none" strike="noStrike">
                <a:solidFill>
                  <a:srgbClr val="980000"/>
                </a:solidFill>
                <a:latin typeface="Arial"/>
                <a:ea typeface="Arial"/>
                <a:cs typeface="Arial"/>
                <a:sym typeface="Arial"/>
              </a:rPr>
              <a:t>Y-axis rotation: </a:t>
            </a:r>
            <a:endParaRPr b="1" i="0" sz="2300" u="none" cap="none" strike="noStrike">
              <a:solidFill>
                <a:srgbClr val="980000"/>
              </a:solidFill>
              <a:latin typeface="Arial"/>
              <a:ea typeface="Arial"/>
              <a:cs typeface="Arial"/>
              <a:sym typeface="Arial"/>
            </a:endParaRPr>
          </a:p>
        </p:txBody>
      </p:sp>
      <p:sp>
        <p:nvSpPr>
          <p:cNvPr id="252" name="Google Shape;252;g3bb5fbf5691_0_233"/>
          <p:cNvSpPr/>
          <p:nvPr/>
        </p:nvSpPr>
        <p:spPr>
          <a:xfrm>
            <a:off x="454775" y="1843925"/>
            <a:ext cx="8160000" cy="4160100"/>
          </a:xfrm>
          <a:prstGeom prst="rect">
            <a:avLst/>
          </a:prstGeom>
          <a:noFill/>
          <a:ln>
            <a:noFill/>
          </a:ln>
        </p:spPr>
        <p:txBody>
          <a:bodyPr anchorCtr="0" anchor="t" bIns="0" lIns="0" spcFirstLastPara="1" rIns="0" wrap="square" tIns="0">
            <a:noAutofit/>
          </a:bodyPr>
          <a:lstStyle/>
          <a:p>
            <a:pPr indent="-245489" lvl="0" marL="246785" marR="0" rtl="0" algn="l">
              <a:lnSpc>
                <a:spcPct val="100000"/>
              </a:lnSpc>
              <a:spcBef>
                <a:spcPts val="0"/>
              </a:spcBef>
              <a:spcAft>
                <a:spcPts val="0"/>
              </a:spcAft>
              <a:buClr>
                <a:srgbClr val="000000"/>
              </a:buClr>
              <a:buSzPts val="2339"/>
              <a:buFont typeface="Arial"/>
              <a:buNone/>
            </a:pPr>
            <a:r>
              <a:rPr b="0" i="0" lang="en-US" sz="2339" u="none" cap="none" strike="noStrike">
                <a:solidFill>
                  <a:srgbClr val="000000"/>
                </a:solidFill>
                <a:latin typeface="Times New Roman"/>
                <a:ea typeface="Times New Roman"/>
                <a:cs typeface="Times New Roman"/>
                <a:sym typeface="Times New Roman"/>
              </a:rPr>
              <a:t>The equation for Y-axis rotaion</a:t>
            </a:r>
            <a:endParaRPr b="0" i="0" sz="1619" u="none" cap="none" strike="noStrike">
              <a:solidFill>
                <a:srgbClr val="000000"/>
              </a:solidFill>
              <a:latin typeface="Arial"/>
              <a:ea typeface="Arial"/>
              <a:cs typeface="Arial"/>
              <a:sym typeface="Arial"/>
            </a:endParaRPr>
          </a:p>
          <a:p>
            <a:pPr indent="-245489" lvl="0" marL="246785" marR="0" rtl="0" algn="l">
              <a:lnSpc>
                <a:spcPct val="100000"/>
              </a:lnSpc>
              <a:spcBef>
                <a:spcPts val="0"/>
              </a:spcBef>
              <a:spcAft>
                <a:spcPts val="0"/>
              </a:spcAft>
              <a:buClr>
                <a:srgbClr val="000000"/>
              </a:buClr>
              <a:buSzPts val="2339"/>
              <a:buFont typeface="Arial"/>
              <a:buNone/>
            </a:pPr>
            <a:r>
              <a:rPr b="0" i="0" lang="en-US" sz="2339" u="none" cap="none" strike="noStrike">
                <a:solidFill>
                  <a:srgbClr val="000000"/>
                </a:solidFill>
                <a:latin typeface="Times New Roman"/>
                <a:ea typeface="Times New Roman"/>
                <a:cs typeface="Times New Roman"/>
                <a:sym typeface="Times New Roman"/>
              </a:rPr>
              <a:t> </a:t>
            </a:r>
            <a:r>
              <a:rPr b="1" i="0" lang="en-US" sz="2339" u="none" cap="none" strike="noStrike">
                <a:solidFill>
                  <a:srgbClr val="000000"/>
                </a:solidFill>
                <a:latin typeface="Times New Roman"/>
                <a:ea typeface="Times New Roman"/>
                <a:cs typeface="Times New Roman"/>
                <a:sym typeface="Times New Roman"/>
              </a:rPr>
              <a:t>x’ = x cosθ + z sinθ </a:t>
            </a:r>
            <a:endParaRPr b="0" i="0" sz="1619" u="none" cap="none" strike="noStrike">
              <a:solidFill>
                <a:srgbClr val="000000"/>
              </a:solidFill>
              <a:latin typeface="Arial"/>
              <a:ea typeface="Arial"/>
              <a:cs typeface="Arial"/>
              <a:sym typeface="Arial"/>
            </a:endParaRPr>
          </a:p>
          <a:p>
            <a:pPr indent="-245489" lvl="0" marL="246785" marR="0" rtl="0" algn="l">
              <a:lnSpc>
                <a:spcPct val="100000"/>
              </a:lnSpc>
              <a:spcBef>
                <a:spcPts val="0"/>
              </a:spcBef>
              <a:spcAft>
                <a:spcPts val="0"/>
              </a:spcAft>
              <a:buClr>
                <a:srgbClr val="000000"/>
              </a:buClr>
              <a:buSzPts val="2339"/>
              <a:buFont typeface="Arial"/>
              <a:buNone/>
            </a:pPr>
            <a:r>
              <a:rPr b="1" i="0" lang="en-US" sz="2339" u="none" cap="none" strike="noStrike">
                <a:solidFill>
                  <a:srgbClr val="000000"/>
                </a:solidFill>
                <a:latin typeface="Times New Roman"/>
                <a:ea typeface="Times New Roman"/>
                <a:cs typeface="Times New Roman"/>
                <a:sym typeface="Times New Roman"/>
              </a:rPr>
              <a:t> y’ = y</a:t>
            </a:r>
            <a:endParaRPr b="0" i="0" sz="1619" u="none" cap="none" strike="noStrike">
              <a:solidFill>
                <a:srgbClr val="000000"/>
              </a:solidFill>
              <a:latin typeface="Arial"/>
              <a:ea typeface="Arial"/>
              <a:cs typeface="Arial"/>
              <a:sym typeface="Arial"/>
            </a:endParaRPr>
          </a:p>
          <a:p>
            <a:pPr indent="-245489" lvl="0" marL="246785" marR="0" rtl="0" algn="l">
              <a:lnSpc>
                <a:spcPct val="100000"/>
              </a:lnSpc>
              <a:spcBef>
                <a:spcPts val="0"/>
              </a:spcBef>
              <a:spcAft>
                <a:spcPts val="0"/>
              </a:spcAft>
              <a:buClr>
                <a:srgbClr val="000000"/>
              </a:buClr>
              <a:buSzPts val="2339"/>
              <a:buFont typeface="Arial"/>
              <a:buNone/>
            </a:pPr>
            <a:r>
              <a:rPr b="1" i="0" lang="en-US" sz="2339" u="none" cap="none" strike="noStrike">
                <a:solidFill>
                  <a:srgbClr val="000000"/>
                </a:solidFill>
                <a:latin typeface="Times New Roman"/>
                <a:ea typeface="Times New Roman"/>
                <a:cs typeface="Times New Roman"/>
                <a:sym typeface="Times New Roman"/>
              </a:rPr>
              <a:t> z’ = z cosθ - x sinθ </a:t>
            </a:r>
            <a:endParaRPr b="0" i="0" sz="1619" u="none" cap="none" strike="noStrike">
              <a:solidFill>
                <a:srgbClr val="000000"/>
              </a:solidFill>
              <a:latin typeface="Arial"/>
              <a:ea typeface="Arial"/>
              <a:cs typeface="Arial"/>
              <a:sym typeface="Arial"/>
            </a:endParaRPr>
          </a:p>
          <a:p>
            <a:pPr indent="-245489" lvl="0" marL="246785" marR="0" rtl="0" algn="l">
              <a:lnSpc>
                <a:spcPct val="100000"/>
              </a:lnSpc>
              <a:spcBef>
                <a:spcPts val="0"/>
              </a:spcBef>
              <a:spcAft>
                <a:spcPts val="0"/>
              </a:spcAft>
              <a:buClr>
                <a:srgbClr val="000000"/>
              </a:buClr>
              <a:buSzPts val="1619"/>
              <a:buFont typeface="Arial"/>
              <a:buNone/>
            </a:pPr>
            <a:r>
              <a:t/>
            </a:r>
            <a:endParaRPr b="0" i="0" sz="1619" u="none" cap="none" strike="noStrike">
              <a:solidFill>
                <a:srgbClr val="000000"/>
              </a:solidFill>
              <a:latin typeface="Arial"/>
              <a:ea typeface="Arial"/>
              <a:cs typeface="Arial"/>
              <a:sym typeface="Arial"/>
            </a:endParaRPr>
          </a:p>
        </p:txBody>
      </p:sp>
      <p:pic>
        <p:nvPicPr>
          <p:cNvPr id="253" name="Google Shape;253;g3bb5fbf5691_0_233"/>
          <p:cNvPicPr preferRelativeResize="0"/>
          <p:nvPr/>
        </p:nvPicPr>
        <p:blipFill rotWithShape="1">
          <a:blip r:embed="rId4">
            <a:alphaModFix/>
          </a:blip>
          <a:srcRect b="0" l="0" r="0" t="0"/>
          <a:stretch/>
        </p:blipFill>
        <p:spPr>
          <a:xfrm>
            <a:off x="454775" y="3863331"/>
            <a:ext cx="3495141" cy="1552840"/>
          </a:xfrm>
          <a:prstGeom prst="rect">
            <a:avLst/>
          </a:prstGeom>
          <a:noFill/>
          <a:ln>
            <a:noFill/>
          </a:ln>
        </p:spPr>
      </p:pic>
      <p:pic>
        <p:nvPicPr>
          <p:cNvPr id="254" name="Google Shape;254;g3bb5fbf5691_0_233"/>
          <p:cNvPicPr preferRelativeResize="0"/>
          <p:nvPr/>
        </p:nvPicPr>
        <p:blipFill rotWithShape="1">
          <a:blip r:embed="rId5">
            <a:alphaModFix/>
          </a:blip>
          <a:srcRect b="0" l="0" r="0" t="0"/>
          <a:stretch/>
        </p:blipFill>
        <p:spPr>
          <a:xfrm>
            <a:off x="4854792" y="3045851"/>
            <a:ext cx="2813407" cy="2670094"/>
          </a:xfrm>
          <a:prstGeom prst="rect">
            <a:avLst/>
          </a:prstGeom>
          <a:noFill/>
          <a:ln cap="flat" cmpd="sng" w="51475">
            <a:solidFill>
              <a:srgbClr val="FFFFFF"/>
            </a:solidFill>
            <a:prstDash val="solid"/>
            <a:miter lim="8000"/>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8" name="Shape 258"/>
        <p:cNvGrpSpPr/>
        <p:nvPr/>
      </p:nvGrpSpPr>
      <p:grpSpPr>
        <a:xfrm>
          <a:off x="0" y="0"/>
          <a:ext cx="0" cy="0"/>
          <a:chOff x="0" y="0"/>
          <a:chExt cx="0" cy="0"/>
        </a:xfrm>
      </p:grpSpPr>
      <p:sp>
        <p:nvSpPr>
          <p:cNvPr id="259" name="Google Shape;259;g3bbe9322812_0_20"/>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60" name="Google Shape;260;g3bbe9322812_0_20"/>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61" name="Google Shape;261;g3bbe9322812_0_20"/>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3D Transformations (Rotation)</a:t>
            </a:r>
            <a:endParaRPr b="0" i="0" sz="3800" u="none" cap="none" strike="noStrike">
              <a:solidFill>
                <a:schemeClr val="lt1"/>
              </a:solidFill>
              <a:latin typeface="Calibri"/>
              <a:ea typeface="Calibri"/>
              <a:cs typeface="Calibri"/>
              <a:sym typeface="Calibri"/>
            </a:endParaRPr>
          </a:p>
        </p:txBody>
      </p:sp>
      <p:pic>
        <p:nvPicPr>
          <p:cNvPr id="262" name="Google Shape;262;g3bbe9322812_0_20"/>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63" name="Google Shape;263;g3bbe9322812_0_20"/>
          <p:cNvSpPr txBox="1"/>
          <p:nvPr/>
        </p:nvSpPr>
        <p:spPr>
          <a:xfrm>
            <a:off x="3028950" y="1315725"/>
            <a:ext cx="4429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980000"/>
                </a:solidFill>
                <a:latin typeface="Arial"/>
                <a:ea typeface="Arial"/>
                <a:cs typeface="Arial"/>
                <a:sym typeface="Arial"/>
              </a:rPr>
              <a:t>Z-axis rotation </a:t>
            </a:r>
            <a:endParaRPr b="1" i="0" sz="1800" u="none" cap="none" strike="noStrike">
              <a:solidFill>
                <a:srgbClr val="980000"/>
              </a:solidFill>
              <a:latin typeface="Arial"/>
              <a:ea typeface="Arial"/>
              <a:cs typeface="Arial"/>
              <a:sym typeface="Arial"/>
            </a:endParaRPr>
          </a:p>
        </p:txBody>
      </p:sp>
      <p:sp>
        <p:nvSpPr>
          <p:cNvPr id="264" name="Google Shape;264;g3bbe9322812_0_20"/>
          <p:cNvSpPr txBox="1"/>
          <p:nvPr/>
        </p:nvSpPr>
        <p:spPr>
          <a:xfrm>
            <a:off x="706576" y="1939500"/>
            <a:ext cx="3586200" cy="2343900"/>
          </a:xfrm>
          <a:prstGeom prst="rect">
            <a:avLst/>
          </a:prstGeom>
          <a:noFill/>
          <a:ln>
            <a:noFill/>
          </a:ln>
        </p:spPr>
        <p:txBody>
          <a:bodyPr anchorCtr="0" anchor="ctr" bIns="0" lIns="0" spcFirstLastPara="1" rIns="0" wrap="square" tIns="0">
            <a:noAutofit/>
          </a:bodyPr>
          <a:lstStyle/>
          <a:p>
            <a:pPr indent="0" lvl="0" marL="873" marR="0" rtl="0" algn="l">
              <a:lnSpc>
                <a:spcPct val="100000"/>
              </a:lnSpc>
              <a:spcBef>
                <a:spcPts val="0"/>
              </a:spcBef>
              <a:spcAft>
                <a:spcPts val="0"/>
              </a:spcAft>
              <a:buClr>
                <a:srgbClr val="000000"/>
              </a:buClr>
              <a:buSzPts val="2266"/>
              <a:buFont typeface="Arial"/>
              <a:buNone/>
            </a:pPr>
            <a:r>
              <a:rPr b="0" i="0" lang="en-US" sz="2266" u="none" cap="none" strike="noStrike">
                <a:solidFill>
                  <a:srgbClr val="000000"/>
                </a:solidFill>
                <a:latin typeface="Times New Roman"/>
                <a:ea typeface="Times New Roman"/>
                <a:cs typeface="Times New Roman"/>
                <a:sym typeface="Times New Roman"/>
              </a:rPr>
              <a:t>The equation for Z-axis rotation</a:t>
            </a:r>
            <a:endParaRPr b="0" i="0" sz="259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66"/>
              <a:buFont typeface="Arial"/>
              <a:buNone/>
            </a:pPr>
            <a:r>
              <a:rPr b="0" i="0" lang="en-US" sz="2266" u="none" cap="none" strike="noStrike">
                <a:solidFill>
                  <a:srgbClr val="000000"/>
                </a:solidFill>
                <a:latin typeface="Times New Roman"/>
                <a:ea typeface="Times New Roman"/>
                <a:cs typeface="Times New Roman"/>
                <a:sym typeface="Times New Roman"/>
              </a:rPr>
              <a:t>   x’ = x cosθ – y sinθ </a:t>
            </a:r>
            <a:endParaRPr b="0" i="0" sz="259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66"/>
              <a:buFont typeface="Arial"/>
              <a:buNone/>
            </a:pPr>
            <a:r>
              <a:rPr b="0" i="0" lang="en-US" sz="2266" u="none" cap="none" strike="noStrike">
                <a:solidFill>
                  <a:srgbClr val="000000"/>
                </a:solidFill>
                <a:latin typeface="Times New Roman"/>
                <a:ea typeface="Times New Roman"/>
                <a:cs typeface="Times New Roman"/>
                <a:sym typeface="Times New Roman"/>
              </a:rPr>
              <a:t>   y’ = x sinθ + y cosθ</a:t>
            </a:r>
            <a:endParaRPr b="0" i="0" sz="259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66"/>
              <a:buFont typeface="Arial"/>
              <a:buNone/>
            </a:pPr>
            <a:r>
              <a:rPr b="0" i="0" lang="en-US" sz="2266" u="none" cap="none" strike="noStrike">
                <a:solidFill>
                  <a:srgbClr val="000000"/>
                </a:solidFill>
                <a:latin typeface="Times New Roman"/>
                <a:ea typeface="Times New Roman"/>
                <a:cs typeface="Times New Roman"/>
                <a:sym typeface="Times New Roman"/>
              </a:rPr>
              <a:t>   z’ = z</a:t>
            </a:r>
            <a:endParaRPr b="0" i="0" sz="259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590"/>
              <a:buFont typeface="Arial"/>
              <a:buNone/>
            </a:pPr>
            <a:r>
              <a:t/>
            </a:r>
            <a:endParaRPr b="0" i="0" sz="259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590"/>
              <a:buFont typeface="Arial"/>
              <a:buNone/>
            </a:pPr>
            <a:r>
              <a:t/>
            </a:r>
            <a:endParaRPr b="0" i="0" sz="2590" u="none" cap="none" strike="noStrike">
              <a:solidFill>
                <a:srgbClr val="000000"/>
              </a:solidFill>
              <a:latin typeface="Arial"/>
              <a:ea typeface="Arial"/>
              <a:cs typeface="Arial"/>
              <a:sym typeface="Arial"/>
            </a:endParaRPr>
          </a:p>
        </p:txBody>
      </p:sp>
      <p:pic>
        <p:nvPicPr>
          <p:cNvPr id="265" name="Google Shape;265;g3bbe9322812_0_20"/>
          <p:cNvPicPr preferRelativeResize="0"/>
          <p:nvPr/>
        </p:nvPicPr>
        <p:blipFill rotWithShape="1">
          <a:blip r:embed="rId4">
            <a:alphaModFix/>
          </a:blip>
          <a:srcRect b="0" l="0" r="0" t="0"/>
          <a:stretch/>
        </p:blipFill>
        <p:spPr>
          <a:xfrm>
            <a:off x="4932726" y="2768520"/>
            <a:ext cx="3075249" cy="1587165"/>
          </a:xfrm>
          <a:prstGeom prst="rect">
            <a:avLst/>
          </a:prstGeom>
          <a:noFill/>
          <a:ln cap="flat" cmpd="sng" w="46325">
            <a:solidFill>
              <a:srgbClr val="00FFFF"/>
            </a:solidFill>
            <a:prstDash val="solid"/>
            <a:miter lim="8000"/>
            <a:headEnd len="sm" w="sm" type="none"/>
            <a:tailEnd len="sm" w="sm" type="none"/>
          </a:ln>
        </p:spPr>
      </p:pic>
      <p:pic>
        <p:nvPicPr>
          <p:cNvPr id="266" name="Google Shape;266;g3bbe9322812_0_20"/>
          <p:cNvPicPr preferRelativeResize="0"/>
          <p:nvPr/>
        </p:nvPicPr>
        <p:blipFill rotWithShape="1">
          <a:blip r:embed="rId5">
            <a:alphaModFix/>
          </a:blip>
          <a:srcRect b="0" l="0" r="0" t="0"/>
          <a:stretch/>
        </p:blipFill>
        <p:spPr>
          <a:xfrm>
            <a:off x="644900" y="4344868"/>
            <a:ext cx="3721243" cy="158308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0" name="Shape 270"/>
        <p:cNvGrpSpPr/>
        <p:nvPr/>
      </p:nvGrpSpPr>
      <p:grpSpPr>
        <a:xfrm>
          <a:off x="0" y="0"/>
          <a:ext cx="0" cy="0"/>
          <a:chOff x="0" y="0"/>
          <a:chExt cx="0" cy="0"/>
        </a:xfrm>
      </p:grpSpPr>
      <p:sp>
        <p:nvSpPr>
          <p:cNvPr id="271" name="Google Shape;271;g3bc93f8e738_0_173"/>
          <p:cNvSpPr txBox="1"/>
          <p:nvPr/>
        </p:nvSpPr>
        <p:spPr>
          <a:xfrm>
            <a:off x="3028950" y="645960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72" name="Google Shape;272;g3bc93f8e738_0_173"/>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73" name="Google Shape;273;g3bc93f8e738_0_173"/>
          <p:cNvSpPr txBox="1"/>
          <p:nvPr/>
        </p:nvSpPr>
        <p:spPr>
          <a:xfrm>
            <a:off x="363825" y="168125"/>
            <a:ext cx="7789500" cy="7542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700" u="none" cap="none" strike="noStrike">
                <a:solidFill>
                  <a:schemeClr val="lt1"/>
                </a:solidFill>
                <a:latin typeface="Calibri"/>
                <a:ea typeface="Calibri"/>
                <a:cs typeface="Calibri"/>
                <a:sym typeface="Calibri"/>
              </a:rPr>
              <a:t>3D Transformations (Rotation Example)</a:t>
            </a:r>
            <a:endParaRPr b="0" i="0" sz="3700" u="none" cap="none" strike="noStrike">
              <a:solidFill>
                <a:schemeClr val="lt1"/>
              </a:solidFill>
              <a:latin typeface="Calibri"/>
              <a:ea typeface="Calibri"/>
              <a:cs typeface="Calibri"/>
              <a:sym typeface="Calibri"/>
            </a:endParaRPr>
          </a:p>
        </p:txBody>
      </p:sp>
      <p:pic>
        <p:nvPicPr>
          <p:cNvPr id="274" name="Google Shape;274;g3bc93f8e738_0_173"/>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75" name="Google Shape;275;g3bc93f8e738_0_173"/>
          <p:cNvSpPr txBox="1"/>
          <p:nvPr/>
        </p:nvSpPr>
        <p:spPr>
          <a:xfrm>
            <a:off x="408750" y="2180000"/>
            <a:ext cx="6458400" cy="7803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8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Point: (x, y, z) = (1, 2, 3)</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Rotation angle θ = 90°</a:t>
            </a:r>
            <a:endParaRPr b="0" i="0" sz="1800" u="none" cap="none" strike="noStrike">
              <a:solidFill>
                <a:schemeClr val="dk1"/>
              </a:solidFill>
              <a:latin typeface="Times New Roman"/>
              <a:ea typeface="Times New Roman"/>
              <a:cs typeface="Times New Roman"/>
              <a:sym typeface="Times New Roman"/>
            </a:endParaRPr>
          </a:p>
        </p:txBody>
      </p:sp>
      <p:sp>
        <p:nvSpPr>
          <p:cNvPr id="276" name="Google Shape;276;g3bc93f8e738_0_173"/>
          <p:cNvSpPr txBox="1"/>
          <p:nvPr/>
        </p:nvSpPr>
        <p:spPr>
          <a:xfrm>
            <a:off x="408750" y="1144525"/>
            <a:ext cx="79935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Given a homogeneous point (1, 2, 3). Apply a 90-degree rotation towards the X, Y, and Z axis and find out the new coordinate points</a:t>
            </a:r>
            <a:endParaRPr b="0" i="0" sz="1400" u="none" cap="none" strike="noStrike">
              <a:solidFill>
                <a:srgbClr val="000000"/>
              </a:solidFill>
              <a:latin typeface="Arial"/>
              <a:ea typeface="Arial"/>
              <a:cs typeface="Arial"/>
              <a:sym typeface="Arial"/>
            </a:endParaRPr>
          </a:p>
        </p:txBody>
      </p:sp>
      <p:sp>
        <p:nvSpPr>
          <p:cNvPr id="277" name="Google Shape;277;g3bc93f8e738_0_173"/>
          <p:cNvSpPr txBox="1"/>
          <p:nvPr/>
        </p:nvSpPr>
        <p:spPr>
          <a:xfrm>
            <a:off x="408750" y="1760125"/>
            <a:ext cx="22890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980000"/>
                </a:solidFill>
                <a:latin typeface="Calibri"/>
                <a:ea typeface="Calibri"/>
                <a:cs typeface="Calibri"/>
                <a:sym typeface="Calibri"/>
              </a:rPr>
              <a:t>Solution : </a:t>
            </a:r>
            <a:endParaRPr b="1" i="0" sz="2100" u="none" cap="none" strike="noStrike">
              <a:solidFill>
                <a:srgbClr val="980000"/>
              </a:solidFill>
              <a:latin typeface="Calibri"/>
              <a:ea typeface="Calibri"/>
              <a:cs typeface="Calibri"/>
              <a:sym typeface="Calibri"/>
            </a:endParaRPr>
          </a:p>
        </p:txBody>
      </p:sp>
      <p:sp>
        <p:nvSpPr>
          <p:cNvPr id="278" name="Google Shape;278;g3bc93f8e738_0_173"/>
          <p:cNvSpPr txBox="1"/>
          <p:nvPr/>
        </p:nvSpPr>
        <p:spPr>
          <a:xfrm>
            <a:off x="854300" y="3144450"/>
            <a:ext cx="31425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980000"/>
                </a:solidFill>
                <a:latin typeface="Arial"/>
                <a:ea typeface="Arial"/>
                <a:cs typeface="Arial"/>
                <a:sym typeface="Arial"/>
              </a:rPr>
              <a:t>Rotation about X-axis</a:t>
            </a:r>
            <a:endParaRPr b="1" i="0" sz="1600" u="none" cap="none" strike="noStrike">
              <a:solidFill>
                <a:srgbClr val="980000"/>
              </a:solidFill>
              <a:latin typeface="Arial"/>
              <a:ea typeface="Arial"/>
              <a:cs typeface="Arial"/>
              <a:sym typeface="Arial"/>
            </a:endParaRPr>
          </a:p>
        </p:txBody>
      </p:sp>
      <p:sp>
        <p:nvSpPr>
          <p:cNvPr id="279" name="Google Shape;279;g3bc93f8e738_0_173"/>
          <p:cNvSpPr txBox="1"/>
          <p:nvPr/>
        </p:nvSpPr>
        <p:spPr>
          <a:xfrm>
            <a:off x="917425" y="3535550"/>
            <a:ext cx="28704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x' = x</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y' = y cosθ − z sinθ</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z' = y sinθ + z cosθ</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x' = 1</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y' = 2 cos90° − 3 sin90° = −3</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z' = 2 sin90° + 3 cos90° = 2</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B5394"/>
                </a:solidFill>
                <a:latin typeface="Times New Roman"/>
                <a:ea typeface="Times New Roman"/>
                <a:cs typeface="Times New Roman"/>
                <a:sym typeface="Times New Roman"/>
              </a:rPr>
              <a:t>New coordinate: (1, −3, 2)</a:t>
            </a:r>
            <a:endParaRPr b="1" i="0" sz="1800" u="none" cap="none" strike="noStrike">
              <a:solidFill>
                <a:srgbClr val="0B5394"/>
              </a:solidFill>
              <a:latin typeface="Times New Roman"/>
              <a:ea typeface="Times New Roman"/>
              <a:cs typeface="Times New Roman"/>
              <a:sym typeface="Times New Roman"/>
            </a:endParaRPr>
          </a:p>
        </p:txBody>
      </p:sp>
      <p:sp>
        <p:nvSpPr>
          <p:cNvPr id="280" name="Google Shape;280;g3bc93f8e738_0_173"/>
          <p:cNvSpPr txBox="1"/>
          <p:nvPr/>
        </p:nvSpPr>
        <p:spPr>
          <a:xfrm>
            <a:off x="5050475" y="3022813"/>
            <a:ext cx="27885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980000"/>
                </a:solidFill>
                <a:latin typeface="Arial"/>
                <a:ea typeface="Arial"/>
                <a:cs typeface="Arial"/>
                <a:sym typeface="Arial"/>
              </a:rPr>
              <a:t>Rotation about Y-axis</a:t>
            </a:r>
            <a:endParaRPr b="1" i="0" sz="1600" u="none" cap="none" strike="noStrike">
              <a:solidFill>
                <a:srgbClr val="980000"/>
              </a:solidFill>
              <a:latin typeface="Arial"/>
              <a:ea typeface="Arial"/>
              <a:cs typeface="Arial"/>
              <a:sym typeface="Arial"/>
            </a:endParaRPr>
          </a:p>
        </p:txBody>
      </p:sp>
      <p:sp>
        <p:nvSpPr>
          <p:cNvPr id="281" name="Google Shape;281;g3bc93f8e738_0_173"/>
          <p:cNvSpPr txBox="1"/>
          <p:nvPr/>
        </p:nvSpPr>
        <p:spPr>
          <a:xfrm>
            <a:off x="5003575" y="3420050"/>
            <a:ext cx="3000000" cy="2632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x' = z sinθ + x cosθ</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y' = y</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z' = z cosθ − x sinθ</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80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x' = 3 sin90° + 1 cos90° = 3</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y' = 2</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z' = 3 cos90° − 1 sin90° = −1</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000"/>
              </a:spcBef>
              <a:spcAft>
                <a:spcPts val="0"/>
              </a:spcAft>
              <a:buClr>
                <a:srgbClr val="000000"/>
              </a:buClr>
              <a:buSzPts val="1800"/>
              <a:buFont typeface="Arial"/>
              <a:buNone/>
            </a:pPr>
            <a:r>
              <a:rPr b="1" i="0" lang="en-US" sz="1800" u="none" cap="none" strike="noStrike">
                <a:solidFill>
                  <a:srgbClr val="0B5394"/>
                </a:solidFill>
                <a:latin typeface="Times New Roman"/>
                <a:ea typeface="Times New Roman"/>
                <a:cs typeface="Times New Roman"/>
                <a:sym typeface="Times New Roman"/>
              </a:rPr>
              <a:t>New coordinate: (3, 2, −1)</a:t>
            </a:r>
            <a:endParaRPr b="1" i="0" sz="1800" u="none" cap="none" strike="noStrike">
              <a:solidFill>
                <a:srgbClr val="0B5394"/>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5" name="Shape 285"/>
        <p:cNvGrpSpPr/>
        <p:nvPr/>
      </p:nvGrpSpPr>
      <p:grpSpPr>
        <a:xfrm>
          <a:off x="0" y="0"/>
          <a:ext cx="0" cy="0"/>
          <a:chOff x="0" y="0"/>
          <a:chExt cx="0" cy="0"/>
        </a:xfrm>
      </p:grpSpPr>
      <p:sp>
        <p:nvSpPr>
          <p:cNvPr id="286" name="Google Shape;286;g3bc93f8e738_0_202"/>
          <p:cNvSpPr txBox="1"/>
          <p:nvPr/>
        </p:nvSpPr>
        <p:spPr>
          <a:xfrm>
            <a:off x="3028950" y="645960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87" name="Google Shape;287;g3bc93f8e738_0_202"/>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88" name="Google Shape;288;g3bc93f8e738_0_202"/>
          <p:cNvSpPr txBox="1"/>
          <p:nvPr/>
        </p:nvSpPr>
        <p:spPr>
          <a:xfrm>
            <a:off x="363825" y="168125"/>
            <a:ext cx="7789500" cy="7542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700" u="none" cap="none" strike="noStrike">
                <a:solidFill>
                  <a:schemeClr val="lt1"/>
                </a:solidFill>
                <a:latin typeface="Calibri"/>
                <a:ea typeface="Calibri"/>
                <a:cs typeface="Calibri"/>
                <a:sym typeface="Calibri"/>
              </a:rPr>
              <a:t>3D Transformations (Rotation Example)</a:t>
            </a:r>
            <a:endParaRPr b="0" i="0" sz="3700" u="none" cap="none" strike="noStrike">
              <a:solidFill>
                <a:schemeClr val="lt1"/>
              </a:solidFill>
              <a:latin typeface="Calibri"/>
              <a:ea typeface="Calibri"/>
              <a:cs typeface="Calibri"/>
              <a:sym typeface="Calibri"/>
            </a:endParaRPr>
          </a:p>
        </p:txBody>
      </p:sp>
      <p:pic>
        <p:nvPicPr>
          <p:cNvPr id="289" name="Google Shape;289;g3bc93f8e738_0_202"/>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90" name="Google Shape;290;g3bc93f8e738_0_202"/>
          <p:cNvSpPr txBox="1"/>
          <p:nvPr/>
        </p:nvSpPr>
        <p:spPr>
          <a:xfrm>
            <a:off x="408750" y="2180000"/>
            <a:ext cx="6458400" cy="7803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8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Point: (x, y, z) = (1, 2, 3)</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Rotation angle θ = 90°</a:t>
            </a:r>
            <a:endParaRPr b="0" i="0" sz="1800" u="none" cap="none" strike="noStrike">
              <a:solidFill>
                <a:schemeClr val="dk1"/>
              </a:solidFill>
              <a:latin typeface="Times New Roman"/>
              <a:ea typeface="Times New Roman"/>
              <a:cs typeface="Times New Roman"/>
              <a:sym typeface="Times New Roman"/>
            </a:endParaRPr>
          </a:p>
        </p:txBody>
      </p:sp>
      <p:sp>
        <p:nvSpPr>
          <p:cNvPr id="291" name="Google Shape;291;g3bc93f8e738_0_202"/>
          <p:cNvSpPr txBox="1"/>
          <p:nvPr/>
        </p:nvSpPr>
        <p:spPr>
          <a:xfrm>
            <a:off x="408750" y="1144525"/>
            <a:ext cx="79935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Given a homogeneous point (1, 2, 3). Apply a 90-degree rotation towards the X, Y, and Z axis and find out the new coordinate points</a:t>
            </a:r>
            <a:endParaRPr b="0" i="0" sz="1400" u="none" cap="none" strike="noStrike">
              <a:solidFill>
                <a:srgbClr val="000000"/>
              </a:solidFill>
              <a:latin typeface="Arial"/>
              <a:ea typeface="Arial"/>
              <a:cs typeface="Arial"/>
              <a:sym typeface="Arial"/>
            </a:endParaRPr>
          </a:p>
        </p:txBody>
      </p:sp>
      <p:sp>
        <p:nvSpPr>
          <p:cNvPr id="292" name="Google Shape;292;g3bc93f8e738_0_202"/>
          <p:cNvSpPr txBox="1"/>
          <p:nvPr/>
        </p:nvSpPr>
        <p:spPr>
          <a:xfrm>
            <a:off x="408750" y="1760125"/>
            <a:ext cx="22890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980000"/>
                </a:solidFill>
                <a:latin typeface="Calibri"/>
                <a:ea typeface="Calibri"/>
                <a:cs typeface="Calibri"/>
                <a:sym typeface="Calibri"/>
              </a:rPr>
              <a:t>Solution : </a:t>
            </a:r>
            <a:endParaRPr b="1" i="0" sz="2100" u="none" cap="none" strike="noStrike">
              <a:solidFill>
                <a:srgbClr val="980000"/>
              </a:solidFill>
              <a:latin typeface="Calibri"/>
              <a:ea typeface="Calibri"/>
              <a:cs typeface="Calibri"/>
              <a:sym typeface="Calibri"/>
            </a:endParaRPr>
          </a:p>
        </p:txBody>
      </p:sp>
      <p:sp>
        <p:nvSpPr>
          <p:cNvPr id="293" name="Google Shape;293;g3bc93f8e738_0_202"/>
          <p:cNvSpPr txBox="1"/>
          <p:nvPr/>
        </p:nvSpPr>
        <p:spPr>
          <a:xfrm>
            <a:off x="620250" y="3044950"/>
            <a:ext cx="27885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980000"/>
                </a:solidFill>
                <a:latin typeface="Arial"/>
                <a:ea typeface="Arial"/>
                <a:cs typeface="Arial"/>
                <a:sym typeface="Arial"/>
              </a:rPr>
              <a:t>Rotation about Z-axis</a:t>
            </a:r>
            <a:endParaRPr b="1" i="0" sz="1600" u="none" cap="none" strike="noStrike">
              <a:solidFill>
                <a:srgbClr val="980000"/>
              </a:solidFill>
              <a:latin typeface="Arial"/>
              <a:ea typeface="Arial"/>
              <a:cs typeface="Arial"/>
              <a:sym typeface="Arial"/>
            </a:endParaRPr>
          </a:p>
        </p:txBody>
      </p:sp>
      <p:sp>
        <p:nvSpPr>
          <p:cNvPr id="294" name="Google Shape;294;g3bc93f8e738_0_202"/>
          <p:cNvSpPr txBox="1"/>
          <p:nvPr/>
        </p:nvSpPr>
        <p:spPr>
          <a:xfrm>
            <a:off x="408750" y="3560700"/>
            <a:ext cx="30000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x' = x cosθ − y sinθ</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y' = x sinθ + y cosθ</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z' = z</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x' = 1 cos90° − 2 sin90° = −2</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y' = 1 sin90° + 2 cos90° = 1</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z' = 3</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B5394"/>
                </a:solidFill>
                <a:latin typeface="Times New Roman"/>
                <a:ea typeface="Times New Roman"/>
                <a:cs typeface="Times New Roman"/>
                <a:sym typeface="Times New Roman"/>
              </a:rPr>
              <a:t>New coordinate: (−2, 1, 3)</a:t>
            </a:r>
            <a:endParaRPr b="1" i="0" sz="1800" u="none" cap="none" strike="noStrike">
              <a:solidFill>
                <a:srgbClr val="0B5394"/>
              </a:solidFill>
              <a:latin typeface="Times New Roman"/>
              <a:ea typeface="Times New Roman"/>
              <a:cs typeface="Times New Roman"/>
              <a:sym typeface="Times New Roman"/>
            </a:endParaRPr>
          </a:p>
        </p:txBody>
      </p:sp>
      <p:sp>
        <p:nvSpPr>
          <p:cNvPr id="295" name="Google Shape;295;g3bc93f8e738_0_202"/>
          <p:cNvSpPr txBox="1"/>
          <p:nvPr/>
        </p:nvSpPr>
        <p:spPr>
          <a:xfrm>
            <a:off x="4414550" y="3597050"/>
            <a:ext cx="3000000" cy="1304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X-axis rotation → (1, −3, 2)</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Y-axis rotation → (3, 2, −1)</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Z-axis rotation → (−2, 1, 3)</a:t>
            </a:r>
            <a:endParaRPr b="0" i="0" sz="1800" u="none" cap="none" strike="noStrike">
              <a:solidFill>
                <a:schemeClr val="dk1"/>
              </a:solidFill>
              <a:latin typeface="Times New Roman"/>
              <a:ea typeface="Times New Roman"/>
              <a:cs typeface="Times New Roman"/>
              <a:sym typeface="Times New Roman"/>
            </a:endParaRPr>
          </a:p>
        </p:txBody>
      </p:sp>
      <p:sp>
        <p:nvSpPr>
          <p:cNvPr id="296" name="Google Shape;296;g3bc93f8e738_0_202"/>
          <p:cNvSpPr txBox="1"/>
          <p:nvPr/>
        </p:nvSpPr>
        <p:spPr>
          <a:xfrm>
            <a:off x="4842025" y="3063125"/>
            <a:ext cx="27885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980000"/>
                </a:solidFill>
                <a:latin typeface="Arial"/>
                <a:ea typeface="Arial"/>
                <a:cs typeface="Arial"/>
                <a:sym typeface="Arial"/>
              </a:rPr>
              <a:t>Final Results</a:t>
            </a:r>
            <a:endParaRPr b="1" i="0" sz="1600" u="none" cap="none" strike="noStrike">
              <a:solidFill>
                <a:srgbClr val="98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0" name="Shape 300"/>
        <p:cNvGrpSpPr/>
        <p:nvPr/>
      </p:nvGrpSpPr>
      <p:grpSpPr>
        <a:xfrm>
          <a:off x="0" y="0"/>
          <a:ext cx="0" cy="0"/>
          <a:chOff x="0" y="0"/>
          <a:chExt cx="0" cy="0"/>
        </a:xfrm>
      </p:grpSpPr>
      <p:sp>
        <p:nvSpPr>
          <p:cNvPr id="301" name="Google Shape;301;g3bb5fbf5691_0_224"/>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02" name="Google Shape;302;g3bb5fbf5691_0_224"/>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03" name="Google Shape;303;g3bb5fbf5691_0_224"/>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3D Transformations (Reflection)</a:t>
            </a:r>
            <a:endParaRPr b="0" i="0" sz="3800" u="none" cap="none" strike="noStrike">
              <a:solidFill>
                <a:schemeClr val="lt1"/>
              </a:solidFill>
              <a:latin typeface="Calibri"/>
              <a:ea typeface="Calibri"/>
              <a:cs typeface="Calibri"/>
              <a:sym typeface="Calibri"/>
            </a:endParaRPr>
          </a:p>
        </p:txBody>
      </p:sp>
      <p:pic>
        <p:nvPicPr>
          <p:cNvPr id="304" name="Google Shape;304;g3bb5fbf5691_0_224"/>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305" name="Google Shape;305;g3bb5fbf5691_0_224"/>
          <p:cNvSpPr txBox="1"/>
          <p:nvPr/>
        </p:nvSpPr>
        <p:spPr>
          <a:xfrm>
            <a:off x="363825" y="5505263"/>
            <a:ext cx="5997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06" name="Google Shape;306;g3bb5fbf5691_0_224"/>
          <p:cNvSpPr txBox="1"/>
          <p:nvPr/>
        </p:nvSpPr>
        <p:spPr>
          <a:xfrm>
            <a:off x="363825" y="1227900"/>
            <a:ext cx="8151600" cy="1354500"/>
          </a:xfrm>
          <a:prstGeom prst="rect">
            <a:avLst/>
          </a:prstGeom>
          <a:noFill/>
          <a:ln>
            <a:noFill/>
          </a:ln>
        </p:spPr>
        <p:txBody>
          <a:bodyPr anchorCtr="0" anchor="t" bIns="91425" lIns="91425" spcFirstLastPara="1" rIns="91425" wrap="square" tIns="91425">
            <a:spAutoFit/>
          </a:bodyPr>
          <a:lstStyle/>
          <a:p>
            <a:pPr indent="-336550" lvl="0" marL="457200" marR="0" rtl="0" algn="l">
              <a:lnSpc>
                <a:spcPct val="100000"/>
              </a:lnSpc>
              <a:spcBef>
                <a:spcPts val="0"/>
              </a:spcBef>
              <a:spcAft>
                <a:spcPts val="0"/>
              </a:spcAft>
              <a:buClr>
                <a:srgbClr val="0B5394"/>
              </a:buClr>
              <a:buSzPts val="1700"/>
              <a:buFont typeface="Arial"/>
              <a:buChar char="■"/>
            </a:pPr>
            <a:r>
              <a:rPr b="0" i="0" lang="en-US" sz="1400" u="none" cap="none" strike="noStrike">
                <a:solidFill>
                  <a:srgbClr val="000000"/>
                </a:solidFill>
                <a:latin typeface="Arial"/>
                <a:ea typeface="Arial"/>
                <a:cs typeface="Arial"/>
                <a:sym typeface="Arial"/>
              </a:rPr>
              <a:t>Reflection in computer graphics is used to emulate reflective objects like mirrors and shiny surfaces Reflection may be an x-axis , y-axis , z-axis. and also in  the planes xy-plane,yz-plane , and zx-plane.</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B5394"/>
              </a:buClr>
              <a:buSzPts val="1700"/>
              <a:buFont typeface="Arial"/>
              <a:buChar char="■"/>
            </a:pPr>
            <a:r>
              <a:rPr b="0" i="0" lang="en-US" sz="1400" u="none" cap="none" strike="noStrike">
                <a:solidFill>
                  <a:srgbClr val="000000"/>
                </a:solidFill>
                <a:latin typeface="Arial"/>
                <a:ea typeface="Arial"/>
                <a:cs typeface="Arial"/>
                <a:sym typeface="Arial"/>
              </a:rPr>
              <a:t>Reflection relative to a given Axis are equivalent to 180-degree rotations   </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ypes of Reflection in 3D plane" id="307" name="Google Shape;307;g3bb5fbf5691_0_224"/>
          <p:cNvPicPr preferRelativeResize="0"/>
          <p:nvPr/>
        </p:nvPicPr>
        <p:blipFill rotWithShape="1">
          <a:blip r:embed="rId4">
            <a:alphaModFix/>
          </a:blip>
          <a:srcRect b="0" l="0" r="0" t="0"/>
          <a:stretch/>
        </p:blipFill>
        <p:spPr>
          <a:xfrm>
            <a:off x="1542175" y="2775450"/>
            <a:ext cx="5343525" cy="17430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1" name="Shape 311"/>
        <p:cNvGrpSpPr/>
        <p:nvPr/>
      </p:nvGrpSpPr>
      <p:grpSpPr>
        <a:xfrm>
          <a:off x="0" y="0"/>
          <a:ext cx="0" cy="0"/>
          <a:chOff x="0" y="0"/>
          <a:chExt cx="0" cy="0"/>
        </a:xfrm>
      </p:grpSpPr>
      <p:sp>
        <p:nvSpPr>
          <p:cNvPr id="312" name="Google Shape;312;g3bbe9322812_0_104"/>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13" name="Google Shape;313;g3bbe9322812_0_104"/>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14" name="Google Shape;314;g3bbe9322812_0_104"/>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3D Transformations (Reflection)</a:t>
            </a:r>
            <a:endParaRPr b="0" i="0" sz="3800" u="none" cap="none" strike="noStrike">
              <a:solidFill>
                <a:schemeClr val="lt1"/>
              </a:solidFill>
              <a:latin typeface="Calibri"/>
              <a:ea typeface="Calibri"/>
              <a:cs typeface="Calibri"/>
              <a:sym typeface="Calibri"/>
            </a:endParaRPr>
          </a:p>
        </p:txBody>
      </p:sp>
      <p:pic>
        <p:nvPicPr>
          <p:cNvPr id="315" name="Google Shape;315;g3bbe9322812_0_104"/>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316" name="Google Shape;316;g3bbe9322812_0_104"/>
          <p:cNvSpPr txBox="1"/>
          <p:nvPr/>
        </p:nvSpPr>
        <p:spPr>
          <a:xfrm>
            <a:off x="507125" y="1152925"/>
            <a:ext cx="30000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300"/>
              <a:buFont typeface="Arial"/>
              <a:buNone/>
            </a:pPr>
            <a:r>
              <a:rPr b="1" i="0" lang="en-US" sz="1300" u="sng" cap="none" strike="noStrike">
                <a:solidFill>
                  <a:srgbClr val="303030"/>
                </a:solidFill>
                <a:latin typeface="Arial"/>
                <a:ea typeface="Arial"/>
                <a:cs typeface="Arial"/>
                <a:sym typeface="Arial"/>
              </a:rPr>
              <a:t>Reflection Relative to XY Plane:</a:t>
            </a:r>
            <a:endParaRPr b="1" i="0" sz="1300" u="sng" cap="none" strike="noStrike">
              <a:solidFill>
                <a:srgbClr val="303030"/>
              </a:solidFill>
              <a:latin typeface="Arial"/>
              <a:ea typeface="Arial"/>
              <a:cs typeface="Arial"/>
              <a:sym typeface="Arial"/>
            </a:endParaRPr>
          </a:p>
        </p:txBody>
      </p:sp>
      <p:pic>
        <p:nvPicPr>
          <p:cNvPr id="317" name="Google Shape;317;g3bbe9322812_0_104"/>
          <p:cNvPicPr preferRelativeResize="0"/>
          <p:nvPr/>
        </p:nvPicPr>
        <p:blipFill rotWithShape="1">
          <a:blip r:embed="rId4">
            <a:alphaModFix/>
          </a:blip>
          <a:srcRect b="0" l="0" r="0" t="0"/>
          <a:stretch/>
        </p:blipFill>
        <p:spPr>
          <a:xfrm>
            <a:off x="642900" y="1678450"/>
            <a:ext cx="3420100" cy="2209300"/>
          </a:xfrm>
          <a:prstGeom prst="rect">
            <a:avLst/>
          </a:prstGeom>
          <a:noFill/>
          <a:ln>
            <a:noFill/>
          </a:ln>
        </p:spPr>
      </p:pic>
      <p:sp>
        <p:nvSpPr>
          <p:cNvPr id="318" name="Google Shape;318;g3bbe9322812_0_104"/>
          <p:cNvSpPr txBox="1"/>
          <p:nvPr/>
        </p:nvSpPr>
        <p:spPr>
          <a:xfrm>
            <a:off x="363825" y="4868725"/>
            <a:ext cx="3796500" cy="1262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This reflection is achieved by using the following reflection equations: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x’ = 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y’ = 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Z’ = -z</a:t>
            </a:r>
            <a:endParaRPr b="0" i="0" sz="1400" u="none" cap="none" strike="noStrike">
              <a:solidFill>
                <a:srgbClr val="000000"/>
              </a:solidFill>
              <a:latin typeface="Arial"/>
              <a:ea typeface="Arial"/>
              <a:cs typeface="Arial"/>
              <a:sym typeface="Arial"/>
            </a:endParaRPr>
          </a:p>
        </p:txBody>
      </p:sp>
      <p:sp>
        <p:nvSpPr>
          <p:cNvPr id="319" name="Google Shape;319;g3bbe9322812_0_104"/>
          <p:cNvSpPr txBox="1"/>
          <p:nvPr/>
        </p:nvSpPr>
        <p:spPr>
          <a:xfrm>
            <a:off x="5559050" y="1189950"/>
            <a:ext cx="30000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300"/>
              <a:buFont typeface="Arial"/>
              <a:buNone/>
            </a:pPr>
            <a:r>
              <a:rPr b="1" i="0" lang="en-US" sz="1300" u="sng" cap="none" strike="noStrike">
                <a:solidFill>
                  <a:srgbClr val="303030"/>
                </a:solidFill>
                <a:latin typeface="Arial"/>
                <a:ea typeface="Arial"/>
                <a:cs typeface="Arial"/>
                <a:sym typeface="Arial"/>
              </a:rPr>
              <a:t>Reflection Relative to YZ Plane:</a:t>
            </a:r>
            <a:endParaRPr b="1" i="0" sz="1300" u="sng" cap="none" strike="noStrike">
              <a:solidFill>
                <a:srgbClr val="303030"/>
              </a:solidFill>
              <a:latin typeface="Arial"/>
              <a:ea typeface="Arial"/>
              <a:cs typeface="Arial"/>
              <a:sym typeface="Arial"/>
            </a:endParaRPr>
          </a:p>
        </p:txBody>
      </p:sp>
      <p:pic>
        <p:nvPicPr>
          <p:cNvPr id="320" name="Google Shape;320;g3bbe9322812_0_104"/>
          <p:cNvPicPr preferRelativeResize="0"/>
          <p:nvPr/>
        </p:nvPicPr>
        <p:blipFill rotWithShape="1">
          <a:blip r:embed="rId5">
            <a:alphaModFix/>
          </a:blip>
          <a:srcRect b="0" l="0" r="0" t="0"/>
          <a:stretch/>
        </p:blipFill>
        <p:spPr>
          <a:xfrm>
            <a:off x="5221216" y="1676513"/>
            <a:ext cx="3442084" cy="2213163"/>
          </a:xfrm>
          <a:prstGeom prst="rect">
            <a:avLst/>
          </a:prstGeom>
          <a:noFill/>
          <a:ln>
            <a:noFill/>
          </a:ln>
        </p:spPr>
      </p:pic>
      <p:sp>
        <p:nvSpPr>
          <p:cNvPr id="321" name="Google Shape;321;g3bbe9322812_0_104"/>
          <p:cNvSpPr txBox="1"/>
          <p:nvPr/>
        </p:nvSpPr>
        <p:spPr>
          <a:xfrm>
            <a:off x="5288000" y="4628575"/>
            <a:ext cx="3542100" cy="1262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This reflection is achieved by using the following reflection equations: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x’ = -x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y’ = 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Z’ = z</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5" name="Shape 325"/>
        <p:cNvGrpSpPr/>
        <p:nvPr/>
      </p:nvGrpSpPr>
      <p:grpSpPr>
        <a:xfrm>
          <a:off x="0" y="0"/>
          <a:ext cx="0" cy="0"/>
          <a:chOff x="0" y="0"/>
          <a:chExt cx="0" cy="0"/>
        </a:xfrm>
      </p:grpSpPr>
      <p:sp>
        <p:nvSpPr>
          <p:cNvPr id="326" name="Google Shape;326;g3bbe9322812_0_132"/>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27" name="Google Shape;327;g3bbe9322812_0_132"/>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28" name="Google Shape;328;g3bbe9322812_0_132"/>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3D Transformations (Reflection)</a:t>
            </a:r>
            <a:endParaRPr b="0" i="0" sz="3800" u="none" cap="none" strike="noStrike">
              <a:solidFill>
                <a:schemeClr val="lt1"/>
              </a:solidFill>
              <a:latin typeface="Calibri"/>
              <a:ea typeface="Calibri"/>
              <a:cs typeface="Calibri"/>
              <a:sym typeface="Calibri"/>
            </a:endParaRPr>
          </a:p>
        </p:txBody>
      </p:sp>
      <p:pic>
        <p:nvPicPr>
          <p:cNvPr id="329" name="Google Shape;329;g3bbe9322812_0_132"/>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330" name="Google Shape;330;g3bbe9322812_0_132"/>
          <p:cNvSpPr txBox="1"/>
          <p:nvPr/>
        </p:nvSpPr>
        <p:spPr>
          <a:xfrm>
            <a:off x="417825" y="1317100"/>
            <a:ext cx="30000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300"/>
              <a:buFont typeface="Arial"/>
              <a:buNone/>
            </a:pPr>
            <a:r>
              <a:rPr b="1" i="0" lang="en-US" sz="1300" u="sng" cap="none" strike="noStrike">
                <a:solidFill>
                  <a:srgbClr val="303030"/>
                </a:solidFill>
                <a:latin typeface="Arial"/>
                <a:ea typeface="Arial"/>
                <a:cs typeface="Arial"/>
                <a:sym typeface="Arial"/>
              </a:rPr>
              <a:t>Reflection Relative to XZ Plane:</a:t>
            </a:r>
            <a:endParaRPr b="1" i="0" sz="1300" u="sng" cap="none" strike="noStrike">
              <a:solidFill>
                <a:srgbClr val="303030"/>
              </a:solidFill>
              <a:latin typeface="Arial"/>
              <a:ea typeface="Arial"/>
              <a:cs typeface="Arial"/>
              <a:sym typeface="Arial"/>
            </a:endParaRPr>
          </a:p>
        </p:txBody>
      </p:sp>
      <p:pic>
        <p:nvPicPr>
          <p:cNvPr id="331" name="Google Shape;331;g3bbe9322812_0_132"/>
          <p:cNvPicPr preferRelativeResize="0"/>
          <p:nvPr/>
        </p:nvPicPr>
        <p:blipFill rotWithShape="1">
          <a:blip r:embed="rId4">
            <a:alphaModFix/>
          </a:blip>
          <a:srcRect b="0" l="0" r="0" t="0"/>
          <a:stretch/>
        </p:blipFill>
        <p:spPr>
          <a:xfrm>
            <a:off x="481425" y="2138025"/>
            <a:ext cx="2936401" cy="1939224"/>
          </a:xfrm>
          <a:prstGeom prst="rect">
            <a:avLst/>
          </a:prstGeom>
          <a:noFill/>
          <a:ln>
            <a:noFill/>
          </a:ln>
        </p:spPr>
      </p:pic>
      <p:sp>
        <p:nvSpPr>
          <p:cNvPr id="332" name="Google Shape;332;g3bbe9322812_0_132"/>
          <p:cNvSpPr txBox="1"/>
          <p:nvPr/>
        </p:nvSpPr>
        <p:spPr>
          <a:xfrm>
            <a:off x="3906375" y="2476588"/>
            <a:ext cx="3796500" cy="1262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This reflection is achieved by using the following reflection equations: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x’ = 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y’ = -y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Z’ = z</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6" name="Shape 336"/>
        <p:cNvGrpSpPr/>
        <p:nvPr/>
      </p:nvGrpSpPr>
      <p:grpSpPr>
        <a:xfrm>
          <a:off x="0" y="0"/>
          <a:ext cx="0" cy="0"/>
          <a:chOff x="0" y="0"/>
          <a:chExt cx="0" cy="0"/>
        </a:xfrm>
      </p:grpSpPr>
      <p:sp>
        <p:nvSpPr>
          <p:cNvPr id="337" name="Google Shape;337;g3bc93f8e738_0_224"/>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38" name="Google Shape;338;g3bc93f8e738_0_224"/>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39" name="Google Shape;339;g3bc93f8e738_0_224"/>
          <p:cNvSpPr txBox="1"/>
          <p:nvPr/>
        </p:nvSpPr>
        <p:spPr>
          <a:xfrm>
            <a:off x="363825" y="168125"/>
            <a:ext cx="7789500" cy="7389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600" u="none" cap="none" strike="noStrike">
                <a:solidFill>
                  <a:schemeClr val="lt1"/>
                </a:solidFill>
                <a:latin typeface="Calibri"/>
                <a:ea typeface="Calibri"/>
                <a:cs typeface="Calibri"/>
                <a:sym typeface="Calibri"/>
              </a:rPr>
              <a:t>3D Transformations (Reflection Example)</a:t>
            </a:r>
            <a:endParaRPr b="0" i="0" sz="3600" u="none" cap="none" strike="noStrike">
              <a:solidFill>
                <a:schemeClr val="lt1"/>
              </a:solidFill>
              <a:latin typeface="Calibri"/>
              <a:ea typeface="Calibri"/>
              <a:cs typeface="Calibri"/>
              <a:sym typeface="Calibri"/>
            </a:endParaRPr>
          </a:p>
        </p:txBody>
      </p:sp>
      <p:pic>
        <p:nvPicPr>
          <p:cNvPr id="340" name="Google Shape;340;g3bc93f8e738_0_224"/>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341" name="Google Shape;341;g3bc93f8e738_0_224"/>
          <p:cNvSpPr txBox="1"/>
          <p:nvPr/>
        </p:nvSpPr>
        <p:spPr>
          <a:xfrm>
            <a:off x="463250" y="2261775"/>
            <a:ext cx="3000000" cy="184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imes New Roman"/>
                <a:ea typeface="Times New Roman"/>
                <a:cs typeface="Times New Roman"/>
                <a:sym typeface="Times New Roman"/>
              </a:rPr>
              <a:t>Vertices of triangle:</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imes New Roman"/>
                <a:ea typeface="Times New Roman"/>
                <a:cs typeface="Times New Roman"/>
                <a:sym typeface="Times New Roman"/>
              </a:rPr>
              <a:t>A(3, 4, 1)</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imes New Roman"/>
                <a:ea typeface="Times New Roman"/>
                <a:cs typeface="Times New Roman"/>
                <a:sym typeface="Times New Roman"/>
              </a:rPr>
              <a:t>B(6, 4, 2)</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imes New Roman"/>
                <a:ea typeface="Times New Roman"/>
                <a:cs typeface="Times New Roman"/>
                <a:sym typeface="Times New Roman"/>
              </a:rPr>
              <a:t>C(5, 6, 3)</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980000"/>
              </a:solidFill>
              <a:latin typeface="Times New Roman"/>
              <a:ea typeface="Times New Roman"/>
              <a:cs typeface="Times New Roman"/>
              <a:sym typeface="Times New Roman"/>
            </a:endParaRPr>
          </a:p>
        </p:txBody>
      </p:sp>
      <p:sp>
        <p:nvSpPr>
          <p:cNvPr id="342" name="Google Shape;342;g3bc93f8e738_0_224"/>
          <p:cNvSpPr txBox="1"/>
          <p:nvPr/>
        </p:nvSpPr>
        <p:spPr>
          <a:xfrm>
            <a:off x="363825" y="1053700"/>
            <a:ext cx="7947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Given a 3D triangle with coordinate points A(3, 4, 1), B(6, 4, 2), and C(5, 6, 3). Apply the reflection on the XY plane and find out the new coordinates of the object.</a:t>
            </a:r>
            <a:endParaRPr b="0" i="0" sz="1400" u="none" cap="none" strike="noStrike">
              <a:solidFill>
                <a:srgbClr val="000000"/>
              </a:solidFill>
              <a:latin typeface="Arial"/>
              <a:ea typeface="Arial"/>
              <a:cs typeface="Arial"/>
              <a:sym typeface="Arial"/>
            </a:endParaRPr>
          </a:p>
        </p:txBody>
      </p:sp>
      <p:sp>
        <p:nvSpPr>
          <p:cNvPr id="343" name="Google Shape;343;g3bc93f8e738_0_224"/>
          <p:cNvSpPr txBox="1"/>
          <p:nvPr/>
        </p:nvSpPr>
        <p:spPr>
          <a:xfrm>
            <a:off x="363825" y="1675525"/>
            <a:ext cx="1326300" cy="31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980000"/>
                </a:solidFill>
                <a:latin typeface="Calibri"/>
                <a:ea typeface="Calibri"/>
                <a:cs typeface="Calibri"/>
                <a:sym typeface="Calibri"/>
              </a:rPr>
              <a:t>Solution: </a:t>
            </a:r>
            <a:endParaRPr b="1" i="0" sz="2100" u="none" cap="none" strike="noStrike">
              <a:solidFill>
                <a:srgbClr val="980000"/>
              </a:solidFill>
              <a:latin typeface="Calibri"/>
              <a:ea typeface="Calibri"/>
              <a:cs typeface="Calibri"/>
              <a:sym typeface="Calibri"/>
            </a:endParaRPr>
          </a:p>
        </p:txBody>
      </p:sp>
      <p:sp>
        <p:nvSpPr>
          <p:cNvPr id="344" name="Google Shape;344;g3bc93f8e738_0_224"/>
          <p:cNvSpPr txBox="1"/>
          <p:nvPr/>
        </p:nvSpPr>
        <p:spPr>
          <a:xfrm>
            <a:off x="3028950" y="2489125"/>
            <a:ext cx="2820900" cy="1262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x' = 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y' = 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z' = −z</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B5394"/>
                </a:solidFill>
                <a:latin typeface="Arial"/>
                <a:ea typeface="Arial"/>
                <a:cs typeface="Arial"/>
                <a:sym typeface="Arial"/>
              </a:rPr>
              <a:t>Only z-coordinate changes sign</a:t>
            </a:r>
            <a:endParaRPr b="0" i="0" sz="1400" u="none" cap="none" strike="noStrike">
              <a:solidFill>
                <a:srgbClr val="0B5394"/>
              </a:solidFill>
              <a:latin typeface="Arial"/>
              <a:ea typeface="Arial"/>
              <a:cs typeface="Arial"/>
              <a:sym typeface="Arial"/>
            </a:endParaRPr>
          </a:p>
        </p:txBody>
      </p:sp>
      <p:sp>
        <p:nvSpPr>
          <p:cNvPr id="345" name="Google Shape;345;g3bc93f8e738_0_224"/>
          <p:cNvSpPr txBox="1"/>
          <p:nvPr/>
        </p:nvSpPr>
        <p:spPr>
          <a:xfrm>
            <a:off x="187950" y="3941125"/>
            <a:ext cx="3000000" cy="1759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5200C"/>
                </a:solidFill>
                <a:latin typeface="Arial"/>
                <a:ea typeface="Arial"/>
                <a:cs typeface="Arial"/>
                <a:sym typeface="Arial"/>
              </a:rPr>
              <a:t>For point A (3, 4, 1)</a:t>
            </a:r>
            <a:endParaRPr b="1" i="0" sz="1400" u="none" cap="none" strike="noStrike">
              <a:solidFill>
                <a:srgbClr val="85200C"/>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85200C"/>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Times New Roman"/>
                <a:ea typeface="Times New Roman"/>
                <a:cs typeface="Times New Roman"/>
                <a:sym typeface="Times New Roman"/>
              </a:rPr>
              <a:t>x' = 3</a:t>
            </a:r>
            <a:endParaRPr b="0" i="0" sz="17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Times New Roman"/>
                <a:ea typeface="Times New Roman"/>
                <a:cs typeface="Times New Roman"/>
                <a:sym typeface="Times New Roman"/>
              </a:rPr>
              <a:t>y' = 4</a:t>
            </a:r>
            <a:endParaRPr b="0" i="0" sz="17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Times New Roman"/>
                <a:ea typeface="Times New Roman"/>
                <a:cs typeface="Times New Roman"/>
                <a:sym typeface="Times New Roman"/>
              </a:rPr>
              <a:t>z'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500"/>
              <a:buFont typeface="Arial"/>
              <a:buNone/>
            </a:pPr>
            <a:r>
              <a:rPr b="1" i="0" lang="en-US" sz="1500" u="none" cap="none" strike="noStrike">
                <a:solidFill>
                  <a:srgbClr val="0B5394"/>
                </a:solidFill>
                <a:latin typeface="Times New Roman"/>
                <a:ea typeface="Times New Roman"/>
                <a:cs typeface="Times New Roman"/>
                <a:sym typeface="Times New Roman"/>
              </a:rPr>
              <a:t>New coordinate, A'</a:t>
            </a:r>
            <a:r>
              <a:rPr b="1" i="0" lang="en-US" sz="1500" u="none" cap="none" strike="noStrike">
                <a:solidFill>
                  <a:srgbClr val="0B5394"/>
                </a:solidFill>
                <a:latin typeface="Arial"/>
                <a:ea typeface="Arial"/>
                <a:cs typeface="Arial"/>
                <a:sym typeface="Arial"/>
              </a:rPr>
              <a:t> = (3, 4, −1)</a:t>
            </a:r>
            <a:endParaRPr b="1" i="0" sz="1500" u="none" cap="none" strike="noStrike">
              <a:solidFill>
                <a:srgbClr val="0B5394"/>
              </a:solidFill>
              <a:latin typeface="Arial"/>
              <a:ea typeface="Arial"/>
              <a:cs typeface="Arial"/>
              <a:sym typeface="Arial"/>
            </a:endParaRPr>
          </a:p>
        </p:txBody>
      </p:sp>
      <p:sp>
        <p:nvSpPr>
          <p:cNvPr id="346" name="Google Shape;346;g3bc93f8e738_0_224"/>
          <p:cNvSpPr txBox="1"/>
          <p:nvPr/>
        </p:nvSpPr>
        <p:spPr>
          <a:xfrm>
            <a:off x="2943025" y="2080200"/>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980000"/>
                </a:solidFill>
                <a:latin typeface="Times New Roman"/>
                <a:ea typeface="Times New Roman"/>
                <a:cs typeface="Times New Roman"/>
                <a:sym typeface="Times New Roman"/>
              </a:rPr>
              <a:t>Reflection plane: XY-plane</a:t>
            </a:r>
            <a:endParaRPr b="0" i="0" sz="1400" u="none" cap="none" strike="noStrike">
              <a:solidFill>
                <a:srgbClr val="000000"/>
              </a:solidFill>
              <a:latin typeface="Arial"/>
              <a:ea typeface="Arial"/>
              <a:cs typeface="Arial"/>
              <a:sym typeface="Arial"/>
            </a:endParaRPr>
          </a:p>
        </p:txBody>
      </p:sp>
      <p:sp>
        <p:nvSpPr>
          <p:cNvPr id="347" name="Google Shape;347;g3bc93f8e738_0_224"/>
          <p:cNvSpPr txBox="1"/>
          <p:nvPr/>
        </p:nvSpPr>
        <p:spPr>
          <a:xfrm>
            <a:off x="3187950" y="3882925"/>
            <a:ext cx="3000000" cy="1754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800"/>
              </a:spcBef>
              <a:spcAft>
                <a:spcPts val="0"/>
              </a:spcAft>
              <a:buClr>
                <a:srgbClr val="000000"/>
              </a:buClr>
              <a:buSzPts val="1400"/>
              <a:buFont typeface="Arial"/>
              <a:buNone/>
            </a:pPr>
            <a:r>
              <a:rPr b="1" i="0" lang="en-US" sz="1400" u="none" cap="none" strike="noStrike">
                <a:solidFill>
                  <a:srgbClr val="980000"/>
                </a:solidFill>
                <a:latin typeface="Times New Roman"/>
                <a:ea typeface="Times New Roman"/>
                <a:cs typeface="Times New Roman"/>
                <a:sym typeface="Times New Roman"/>
              </a:rPr>
              <a:t>For point B(6, 4, 2)</a:t>
            </a:r>
            <a:endParaRPr b="1" i="0" sz="1400" u="none" cap="none" strike="noStrike">
              <a:solidFill>
                <a:srgbClr val="980000"/>
              </a:solidFill>
              <a:latin typeface="Times New Roman"/>
              <a:ea typeface="Times New Roman"/>
              <a:cs typeface="Times New Roman"/>
              <a:sym typeface="Times New Roman"/>
            </a:endParaRPr>
          </a:p>
          <a:p>
            <a:pPr indent="0" lvl="0" marL="0" marR="0" rtl="0" algn="l">
              <a:lnSpc>
                <a:spcPct val="100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x' = 6</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y' = 4</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z' = −2</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5394"/>
                </a:solidFill>
                <a:latin typeface="Times New Roman"/>
                <a:ea typeface="Times New Roman"/>
                <a:cs typeface="Times New Roman"/>
                <a:sym typeface="Times New Roman"/>
              </a:rPr>
              <a:t>New coordinate, </a:t>
            </a:r>
            <a:r>
              <a:rPr b="1" i="0" lang="en-US" sz="1700" u="none" cap="none" strike="noStrike">
                <a:solidFill>
                  <a:srgbClr val="0B5394"/>
                </a:solidFill>
                <a:latin typeface="Times New Roman"/>
                <a:ea typeface="Times New Roman"/>
                <a:cs typeface="Times New Roman"/>
                <a:sym typeface="Times New Roman"/>
              </a:rPr>
              <a:t>B' = (6, 4, −2)</a:t>
            </a:r>
            <a:endParaRPr b="1" i="0" sz="1700" u="none" cap="none" strike="noStrike">
              <a:solidFill>
                <a:srgbClr val="0B5394"/>
              </a:solidFill>
              <a:latin typeface="Times New Roman"/>
              <a:ea typeface="Times New Roman"/>
              <a:cs typeface="Times New Roman"/>
              <a:sym typeface="Times New Roman"/>
            </a:endParaRPr>
          </a:p>
        </p:txBody>
      </p:sp>
      <p:sp>
        <p:nvSpPr>
          <p:cNvPr id="348" name="Google Shape;348;g3bc93f8e738_0_224"/>
          <p:cNvSpPr txBox="1"/>
          <p:nvPr/>
        </p:nvSpPr>
        <p:spPr>
          <a:xfrm>
            <a:off x="6248625" y="3958375"/>
            <a:ext cx="3000000" cy="1725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400"/>
              <a:buFont typeface="Arial"/>
              <a:buNone/>
            </a:pPr>
            <a:r>
              <a:rPr b="1" i="0" lang="en-US" sz="1400" u="none" cap="none" strike="noStrike">
                <a:solidFill>
                  <a:srgbClr val="85200C"/>
                </a:solidFill>
                <a:latin typeface="Times New Roman"/>
                <a:ea typeface="Times New Roman"/>
                <a:cs typeface="Times New Roman"/>
                <a:sym typeface="Times New Roman"/>
              </a:rPr>
              <a:t>For point C(5, 6, 3)</a:t>
            </a:r>
            <a:endParaRPr b="1" i="0" sz="1400" u="none" cap="none" strike="noStrike">
              <a:solidFill>
                <a:srgbClr val="85200C"/>
              </a:solidFill>
              <a:latin typeface="Times New Roman"/>
              <a:ea typeface="Times New Roman"/>
              <a:cs typeface="Times New Roman"/>
              <a:sym typeface="Times New Roman"/>
            </a:endParaRPr>
          </a:p>
          <a:p>
            <a:pPr indent="0" lvl="0" marL="0" marR="0" rtl="0" algn="l">
              <a:lnSpc>
                <a:spcPct val="115000"/>
              </a:lnSpc>
              <a:spcBef>
                <a:spcPts val="10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x' = 5</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y' = 6</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z' = −3</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0B5394"/>
                </a:solidFill>
                <a:latin typeface="Times New Roman"/>
                <a:ea typeface="Times New Roman"/>
                <a:cs typeface="Times New Roman"/>
                <a:sym typeface="Times New Roman"/>
              </a:rPr>
              <a:t>New coordinate, </a:t>
            </a:r>
            <a:r>
              <a:rPr b="1" i="0" lang="en-US" sz="1700" u="none" cap="none" strike="noStrike">
                <a:solidFill>
                  <a:srgbClr val="0B5394"/>
                </a:solidFill>
                <a:latin typeface="Times New Roman"/>
                <a:ea typeface="Times New Roman"/>
                <a:cs typeface="Times New Roman"/>
                <a:sym typeface="Times New Roman"/>
              </a:rPr>
              <a:t>C' = (5, 6, −3)</a:t>
            </a:r>
            <a:endParaRPr b="1" i="0" sz="1700" u="none" cap="none" strike="noStrike">
              <a:solidFill>
                <a:srgbClr val="0B5394"/>
              </a:solidFill>
              <a:latin typeface="Times New Roman"/>
              <a:ea typeface="Times New Roman"/>
              <a:cs typeface="Times New Roman"/>
              <a:sym typeface="Times New Roman"/>
            </a:endParaRPr>
          </a:p>
        </p:txBody>
      </p:sp>
      <p:sp>
        <p:nvSpPr>
          <p:cNvPr id="349" name="Google Shape;349;g3bc93f8e738_0_224"/>
          <p:cNvSpPr txBox="1"/>
          <p:nvPr/>
        </p:nvSpPr>
        <p:spPr>
          <a:xfrm>
            <a:off x="681750" y="5119000"/>
            <a:ext cx="5168100" cy="1115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3200"/>
              <a:buFont typeface="Arial"/>
              <a:buNone/>
            </a:pPr>
            <a:r>
              <a:t/>
            </a:r>
            <a:endParaRPr b="0" i="0" sz="3200" u="none" cap="none" strike="noStrike">
              <a:solidFill>
                <a:schemeClr val="dk1"/>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600"/>
              <a:buFont typeface="Arial"/>
              <a:buNone/>
            </a:pPr>
            <a:r>
              <a:rPr b="1" i="0" lang="en-US" sz="1600" u="none" cap="none" strike="noStrike">
                <a:solidFill>
                  <a:srgbClr val="980000"/>
                </a:solidFill>
                <a:latin typeface="Times New Roman"/>
                <a:ea typeface="Times New Roman"/>
                <a:cs typeface="Times New Roman"/>
                <a:sym typeface="Times New Roman"/>
              </a:rPr>
              <a:t>Final Results</a:t>
            </a:r>
            <a:r>
              <a:rPr b="1" i="0" lang="en-US" sz="1700" u="none" cap="none" strike="noStrike">
                <a:solidFill>
                  <a:srgbClr val="980000"/>
                </a:solidFill>
                <a:latin typeface="Times New Roman"/>
                <a:ea typeface="Times New Roman"/>
                <a:cs typeface="Times New Roman"/>
                <a:sym typeface="Times New Roman"/>
              </a:rPr>
              <a:t>:</a:t>
            </a:r>
            <a:r>
              <a:rPr b="1" i="0" lang="en-US" sz="1600" u="none" cap="none" strike="noStrike">
                <a:solidFill>
                  <a:srgbClr val="980000"/>
                </a:solidFill>
                <a:latin typeface="Times New Roman"/>
                <a:ea typeface="Times New Roman"/>
                <a:cs typeface="Times New Roman"/>
                <a:sym typeface="Times New Roman"/>
              </a:rPr>
              <a:t> A' (3, 4, −1), B' (6, 4, −2) , C' (5, 6, −3)</a:t>
            </a:r>
            <a:endParaRPr b="1" i="0" sz="1600" u="none" cap="none" strike="noStrike">
              <a:solidFill>
                <a:srgbClr val="980000"/>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3" name="Shape 353"/>
        <p:cNvGrpSpPr/>
        <p:nvPr/>
      </p:nvGrpSpPr>
      <p:grpSpPr>
        <a:xfrm>
          <a:off x="0" y="0"/>
          <a:ext cx="0" cy="0"/>
          <a:chOff x="0" y="0"/>
          <a:chExt cx="0" cy="0"/>
        </a:xfrm>
      </p:grpSpPr>
      <p:sp>
        <p:nvSpPr>
          <p:cNvPr id="354" name="Google Shape;354;g3bbe9322812_0_245"/>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55" name="Google Shape;355;g3bbe9322812_0_245"/>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56" name="Google Shape;356;g3bbe9322812_0_245"/>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3D Transformations (Shearing)</a:t>
            </a:r>
            <a:endParaRPr b="0" i="0" sz="3800" u="none" cap="none" strike="noStrike">
              <a:solidFill>
                <a:schemeClr val="lt1"/>
              </a:solidFill>
              <a:latin typeface="Calibri"/>
              <a:ea typeface="Calibri"/>
              <a:cs typeface="Calibri"/>
              <a:sym typeface="Calibri"/>
            </a:endParaRPr>
          </a:p>
        </p:txBody>
      </p:sp>
      <p:pic>
        <p:nvPicPr>
          <p:cNvPr id="357" name="Google Shape;357;g3bbe9322812_0_245"/>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358" name="Google Shape;358;g3bbe9322812_0_245"/>
          <p:cNvSpPr txBox="1"/>
          <p:nvPr/>
        </p:nvSpPr>
        <p:spPr>
          <a:xfrm>
            <a:off x="363825" y="5505275"/>
            <a:ext cx="7438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Matrix for 3D shearing, Where a and b can Be assigned any real Value. </a:t>
            </a:r>
            <a:endParaRPr b="0" i="0" sz="1600" u="none" cap="none" strike="noStrike">
              <a:solidFill>
                <a:srgbClr val="000000"/>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59" name="Google Shape;359;g3bbe9322812_0_245"/>
          <p:cNvSpPr txBox="1"/>
          <p:nvPr/>
        </p:nvSpPr>
        <p:spPr>
          <a:xfrm>
            <a:off x="236475" y="1227900"/>
            <a:ext cx="4575000" cy="2313900"/>
          </a:xfrm>
          <a:prstGeom prst="rect">
            <a:avLst/>
          </a:prstGeom>
          <a:noFill/>
          <a:ln>
            <a:noFill/>
          </a:ln>
        </p:spPr>
        <p:txBody>
          <a:bodyPr anchorCtr="0" anchor="t" bIns="91425" lIns="91425" spcFirstLastPara="1" rIns="91425" wrap="square" tIns="91425">
            <a:spAutoFit/>
          </a:bodyPr>
          <a:lstStyle/>
          <a:p>
            <a:pPr indent="-330200" lvl="0" marL="457200" marR="0" rtl="0" algn="just">
              <a:lnSpc>
                <a:spcPct val="100000"/>
              </a:lnSpc>
              <a:spcBef>
                <a:spcPts val="1000"/>
              </a:spcBef>
              <a:spcAft>
                <a:spcPts val="0"/>
              </a:spcAft>
              <a:buClr>
                <a:srgbClr val="0B5394"/>
              </a:buClr>
              <a:buSzPts val="1600"/>
              <a:buFont typeface="Arial"/>
              <a:buChar char="■"/>
            </a:pPr>
            <a:r>
              <a:rPr b="0" i="0" lang="en-US" sz="1400" u="none" cap="none" strike="noStrike">
                <a:solidFill>
                  <a:srgbClr val="000000"/>
                </a:solidFill>
                <a:latin typeface="Arial"/>
                <a:ea typeface="Arial"/>
                <a:cs typeface="Arial"/>
                <a:sym typeface="Arial"/>
              </a:rPr>
              <a:t>A Transformation that distorts the shape of an object such that the transformed shape appears as if the object were decomposed of internal layers that had been caused to slide over each other is called a shearing</a:t>
            </a:r>
            <a:endParaRPr b="0" i="0" sz="1400" u="none" cap="none" strike="noStrike">
              <a:solidFill>
                <a:srgbClr val="000000"/>
              </a:solidFill>
              <a:latin typeface="Arial"/>
              <a:ea typeface="Arial"/>
              <a:cs typeface="Arial"/>
              <a:sym typeface="Arial"/>
            </a:endParaRPr>
          </a:p>
          <a:p>
            <a:pPr indent="-330200" lvl="0" marL="457200" marR="0" rtl="0" algn="just">
              <a:lnSpc>
                <a:spcPct val="100000"/>
              </a:lnSpc>
              <a:spcBef>
                <a:spcPts val="1000"/>
              </a:spcBef>
              <a:spcAft>
                <a:spcPts val="0"/>
              </a:spcAft>
              <a:buClr>
                <a:srgbClr val="0B5394"/>
              </a:buClr>
              <a:buSzPts val="1600"/>
              <a:buFont typeface="Arial"/>
              <a:buChar char="■"/>
            </a:pPr>
            <a:r>
              <a:rPr b="0" i="0" lang="en-US" sz="1400" u="none" cap="none" strike="noStrike">
                <a:solidFill>
                  <a:srgbClr val="000000"/>
                </a:solidFill>
                <a:latin typeface="Arial"/>
                <a:ea typeface="Arial"/>
                <a:cs typeface="Arial"/>
                <a:sym typeface="Arial"/>
              </a:rPr>
              <a:t>In 2-D, transformations relative to X or Y axis to produce distortion in the shapes of objects. In 3-D, we can also generate shears relative to Z-axis.</a:t>
            </a:r>
            <a:endParaRPr b="0" i="0" sz="1400" u="none" cap="none" strike="noStrike">
              <a:solidFill>
                <a:srgbClr val="000000"/>
              </a:solidFill>
              <a:latin typeface="Arial"/>
              <a:ea typeface="Arial"/>
              <a:cs typeface="Arial"/>
              <a:sym typeface="Arial"/>
            </a:endParaRPr>
          </a:p>
        </p:txBody>
      </p:sp>
      <p:pic>
        <p:nvPicPr>
          <p:cNvPr descr="Versions of Shearing in 3D plane" id="360" name="Google Shape;360;g3bbe9322812_0_245"/>
          <p:cNvPicPr preferRelativeResize="0"/>
          <p:nvPr/>
        </p:nvPicPr>
        <p:blipFill rotWithShape="1">
          <a:blip r:embed="rId4">
            <a:alphaModFix/>
          </a:blip>
          <a:srcRect b="0" l="0" r="0" t="0"/>
          <a:stretch/>
        </p:blipFill>
        <p:spPr>
          <a:xfrm>
            <a:off x="5231600" y="4024700"/>
            <a:ext cx="3086101" cy="1252231"/>
          </a:xfrm>
          <a:prstGeom prst="rect">
            <a:avLst/>
          </a:prstGeom>
          <a:noFill/>
          <a:ln>
            <a:noFill/>
          </a:ln>
        </p:spPr>
      </p:pic>
      <p:pic>
        <p:nvPicPr>
          <p:cNvPr id="361" name="Google Shape;361;g3bbe9322812_0_245"/>
          <p:cNvPicPr preferRelativeResize="0"/>
          <p:nvPr/>
        </p:nvPicPr>
        <p:blipFill rotWithShape="1">
          <a:blip r:embed="rId5">
            <a:alphaModFix/>
          </a:blip>
          <a:srcRect b="0" l="0" r="0" t="0"/>
          <a:stretch/>
        </p:blipFill>
        <p:spPr>
          <a:xfrm>
            <a:off x="4982025" y="1980200"/>
            <a:ext cx="4027725" cy="1816162"/>
          </a:xfrm>
          <a:prstGeom prst="rect">
            <a:avLst/>
          </a:prstGeom>
          <a:noFill/>
          <a:ln>
            <a:noFill/>
          </a:ln>
        </p:spPr>
      </p:pic>
      <p:pic>
        <p:nvPicPr>
          <p:cNvPr id="362" name="Google Shape;362;g3bbe9322812_0_245"/>
          <p:cNvPicPr preferRelativeResize="0"/>
          <p:nvPr/>
        </p:nvPicPr>
        <p:blipFill rotWithShape="1">
          <a:blip r:embed="rId6">
            <a:alphaModFix/>
          </a:blip>
          <a:srcRect b="0" l="0" r="0" t="0"/>
          <a:stretch/>
        </p:blipFill>
        <p:spPr>
          <a:xfrm>
            <a:off x="803253" y="3712511"/>
            <a:ext cx="2844701" cy="162204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6" name="Shape 366"/>
        <p:cNvGrpSpPr/>
        <p:nvPr/>
      </p:nvGrpSpPr>
      <p:grpSpPr>
        <a:xfrm>
          <a:off x="0" y="0"/>
          <a:ext cx="0" cy="0"/>
          <a:chOff x="0" y="0"/>
          <a:chExt cx="0" cy="0"/>
        </a:xfrm>
      </p:grpSpPr>
      <p:sp>
        <p:nvSpPr>
          <p:cNvPr id="367" name="Google Shape;367;g3bbe9322812_0_295"/>
          <p:cNvSpPr txBox="1"/>
          <p:nvPr/>
        </p:nvSpPr>
        <p:spPr>
          <a:xfrm>
            <a:off x="3027375" y="649290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68" name="Google Shape;368;g3bbe9322812_0_295"/>
          <p:cNvSpPr txBox="1"/>
          <p:nvPr/>
        </p:nvSpPr>
        <p:spPr>
          <a:xfrm>
            <a:off x="363825" y="168125"/>
            <a:ext cx="7789500" cy="7389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3D Transformations (Shearing)</a:t>
            </a:r>
            <a:endParaRPr b="0" i="0" sz="3600" u="none" cap="none" strike="noStrike">
              <a:solidFill>
                <a:schemeClr val="lt1"/>
              </a:solidFill>
              <a:latin typeface="Calibri"/>
              <a:ea typeface="Calibri"/>
              <a:cs typeface="Calibri"/>
              <a:sym typeface="Calibri"/>
            </a:endParaRPr>
          </a:p>
        </p:txBody>
      </p:sp>
      <p:pic>
        <p:nvPicPr>
          <p:cNvPr id="369" name="Google Shape;369;g3bbe9322812_0_295"/>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pic>
        <p:nvPicPr>
          <p:cNvPr id="370" name="Google Shape;370;g3bbe9322812_0_295"/>
          <p:cNvPicPr preferRelativeResize="0"/>
          <p:nvPr/>
        </p:nvPicPr>
        <p:blipFill rotWithShape="1">
          <a:blip r:embed="rId4">
            <a:alphaModFix/>
          </a:blip>
          <a:srcRect b="0" l="8583" r="13739" t="9494"/>
          <a:stretch/>
        </p:blipFill>
        <p:spPr>
          <a:xfrm>
            <a:off x="5404650" y="1935437"/>
            <a:ext cx="1510700" cy="951150"/>
          </a:xfrm>
          <a:prstGeom prst="rect">
            <a:avLst/>
          </a:prstGeom>
          <a:noFill/>
          <a:ln>
            <a:noFill/>
          </a:ln>
        </p:spPr>
      </p:pic>
      <p:pic>
        <p:nvPicPr>
          <p:cNvPr id="371" name="Google Shape;371;g3bbe9322812_0_295"/>
          <p:cNvPicPr preferRelativeResize="0"/>
          <p:nvPr/>
        </p:nvPicPr>
        <p:blipFill rotWithShape="1">
          <a:blip r:embed="rId5">
            <a:alphaModFix/>
          </a:blip>
          <a:srcRect b="0" l="0" r="0" t="0"/>
          <a:stretch/>
        </p:blipFill>
        <p:spPr>
          <a:xfrm>
            <a:off x="582400" y="1901125"/>
            <a:ext cx="4387764" cy="1019775"/>
          </a:xfrm>
          <a:prstGeom prst="rect">
            <a:avLst/>
          </a:prstGeom>
          <a:noFill/>
          <a:ln>
            <a:noFill/>
          </a:ln>
        </p:spPr>
      </p:pic>
      <p:sp>
        <p:nvSpPr>
          <p:cNvPr id="372" name="Google Shape;372;g3bbe9322812_0_295"/>
          <p:cNvSpPr txBox="1"/>
          <p:nvPr/>
        </p:nvSpPr>
        <p:spPr>
          <a:xfrm>
            <a:off x="254350" y="999175"/>
            <a:ext cx="74484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980000"/>
                </a:solidFill>
                <a:latin typeface="Arial"/>
                <a:ea typeface="Arial"/>
                <a:cs typeface="Arial"/>
                <a:sym typeface="Arial"/>
              </a:rPr>
              <a:t>Shearing in x-direction</a:t>
            </a:r>
            <a:endParaRPr b="1" i="0" sz="14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Here the coordinate of X remains unchanged while the coordinates of Y and Z are changed.</a:t>
            </a:r>
            <a:endParaRPr b="0" i="0" sz="1400" u="none" cap="none" strike="noStrike">
              <a:solidFill>
                <a:srgbClr val="000000"/>
              </a:solidFill>
              <a:latin typeface="Arial"/>
              <a:ea typeface="Arial"/>
              <a:cs typeface="Arial"/>
              <a:sym typeface="Arial"/>
            </a:endParaRPr>
          </a:p>
        </p:txBody>
      </p:sp>
      <p:sp>
        <p:nvSpPr>
          <p:cNvPr id="373" name="Google Shape;373;g3bbe9322812_0_295"/>
          <p:cNvSpPr txBox="1"/>
          <p:nvPr/>
        </p:nvSpPr>
        <p:spPr>
          <a:xfrm>
            <a:off x="254350" y="2843100"/>
            <a:ext cx="79752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980000"/>
                </a:solidFill>
                <a:latin typeface="Arial"/>
                <a:ea typeface="Arial"/>
                <a:cs typeface="Arial"/>
                <a:sym typeface="Arial"/>
              </a:rPr>
              <a:t>Shearing in y-direction</a:t>
            </a:r>
            <a:endParaRPr b="1" i="0" sz="14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Here the coordinate of Y remains unchanged while the coordinates of X and Z are changed.</a:t>
            </a:r>
            <a:endParaRPr b="0" i="0" sz="1400" u="none" cap="none" strike="noStrike">
              <a:solidFill>
                <a:srgbClr val="000000"/>
              </a:solidFill>
              <a:latin typeface="Arial"/>
              <a:ea typeface="Arial"/>
              <a:cs typeface="Arial"/>
              <a:sym typeface="Arial"/>
            </a:endParaRPr>
          </a:p>
        </p:txBody>
      </p:sp>
      <p:pic>
        <p:nvPicPr>
          <p:cNvPr id="374" name="Google Shape;374;g3bbe9322812_0_295"/>
          <p:cNvPicPr preferRelativeResize="0"/>
          <p:nvPr/>
        </p:nvPicPr>
        <p:blipFill rotWithShape="1">
          <a:blip r:embed="rId6">
            <a:alphaModFix/>
          </a:blip>
          <a:srcRect b="0" l="0" r="0" t="0"/>
          <a:stretch/>
        </p:blipFill>
        <p:spPr>
          <a:xfrm>
            <a:off x="779850" y="3833100"/>
            <a:ext cx="4326599" cy="831300"/>
          </a:xfrm>
          <a:prstGeom prst="rect">
            <a:avLst/>
          </a:prstGeom>
          <a:noFill/>
          <a:ln>
            <a:noFill/>
          </a:ln>
        </p:spPr>
      </p:pic>
      <p:pic>
        <p:nvPicPr>
          <p:cNvPr id="375" name="Google Shape;375;g3bbe9322812_0_295"/>
          <p:cNvPicPr preferRelativeResize="0"/>
          <p:nvPr/>
        </p:nvPicPr>
        <p:blipFill rotWithShape="1">
          <a:blip r:embed="rId7">
            <a:alphaModFix/>
          </a:blip>
          <a:srcRect b="0" l="0" r="0" t="0"/>
          <a:stretch/>
        </p:blipFill>
        <p:spPr>
          <a:xfrm>
            <a:off x="5322896" y="3773175"/>
            <a:ext cx="1837704" cy="951150"/>
          </a:xfrm>
          <a:prstGeom prst="rect">
            <a:avLst/>
          </a:prstGeom>
          <a:noFill/>
          <a:ln>
            <a:noFill/>
          </a:ln>
        </p:spPr>
      </p:pic>
      <p:sp>
        <p:nvSpPr>
          <p:cNvPr id="376" name="Google Shape;376;g3bbe9322812_0_295"/>
          <p:cNvSpPr txBox="1"/>
          <p:nvPr/>
        </p:nvSpPr>
        <p:spPr>
          <a:xfrm>
            <a:off x="443100" y="4668000"/>
            <a:ext cx="79752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980000"/>
                </a:solidFill>
                <a:latin typeface="Arial"/>
                <a:ea typeface="Arial"/>
                <a:cs typeface="Arial"/>
                <a:sym typeface="Arial"/>
              </a:rPr>
              <a:t>Shearing in z-direction</a:t>
            </a:r>
            <a:endParaRPr b="1" i="0" sz="14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Here the coordinate of Z remains unchanged while the coordinates of X and Y are changed.</a:t>
            </a:r>
            <a:endParaRPr b="0" i="0" sz="1400" u="none" cap="none" strike="noStrike">
              <a:solidFill>
                <a:srgbClr val="000000"/>
              </a:solidFill>
              <a:latin typeface="Arial"/>
              <a:ea typeface="Arial"/>
              <a:cs typeface="Arial"/>
              <a:sym typeface="Arial"/>
            </a:endParaRPr>
          </a:p>
        </p:txBody>
      </p:sp>
      <p:pic>
        <p:nvPicPr>
          <p:cNvPr id="377" name="Google Shape;377;g3bbe9322812_0_295"/>
          <p:cNvPicPr preferRelativeResize="0"/>
          <p:nvPr/>
        </p:nvPicPr>
        <p:blipFill rotWithShape="1">
          <a:blip r:embed="rId8">
            <a:alphaModFix/>
          </a:blip>
          <a:srcRect b="0" l="0" r="0" t="0"/>
          <a:stretch/>
        </p:blipFill>
        <p:spPr>
          <a:xfrm>
            <a:off x="592375" y="5502900"/>
            <a:ext cx="4730524" cy="8544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1" name="Shape 381"/>
        <p:cNvGrpSpPr/>
        <p:nvPr/>
      </p:nvGrpSpPr>
      <p:grpSpPr>
        <a:xfrm>
          <a:off x="0" y="0"/>
          <a:ext cx="0" cy="0"/>
          <a:chOff x="0" y="0"/>
          <a:chExt cx="0" cy="0"/>
        </a:xfrm>
      </p:grpSpPr>
      <p:sp>
        <p:nvSpPr>
          <p:cNvPr id="382" name="Google Shape;382;g3bc93f8e738_0_276"/>
          <p:cNvSpPr txBox="1"/>
          <p:nvPr/>
        </p:nvSpPr>
        <p:spPr>
          <a:xfrm>
            <a:off x="3027375" y="649290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83" name="Google Shape;383;g3bc93f8e738_0_276"/>
          <p:cNvSpPr txBox="1"/>
          <p:nvPr/>
        </p:nvSpPr>
        <p:spPr>
          <a:xfrm>
            <a:off x="363825" y="168125"/>
            <a:ext cx="7789500" cy="7389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3D Transformations (Shearing Example)</a:t>
            </a:r>
            <a:endParaRPr b="0" i="0" sz="3600" u="none" cap="none" strike="noStrike">
              <a:solidFill>
                <a:schemeClr val="lt1"/>
              </a:solidFill>
              <a:latin typeface="Calibri"/>
              <a:ea typeface="Calibri"/>
              <a:cs typeface="Calibri"/>
              <a:sym typeface="Calibri"/>
            </a:endParaRPr>
          </a:p>
        </p:txBody>
      </p:sp>
      <p:pic>
        <p:nvPicPr>
          <p:cNvPr id="384" name="Google Shape;384;g3bc93f8e738_0_276"/>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385" name="Google Shape;385;g3bc93f8e738_0_276"/>
          <p:cNvSpPr txBox="1"/>
          <p:nvPr/>
        </p:nvSpPr>
        <p:spPr>
          <a:xfrm>
            <a:off x="436025" y="1732850"/>
            <a:ext cx="74484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980000"/>
                </a:solidFill>
                <a:latin typeface="Arial"/>
                <a:ea typeface="Arial"/>
                <a:cs typeface="Arial"/>
                <a:sym typeface="Arial"/>
              </a:rPr>
              <a:t>Solution: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g3bc93f8e738_0_276"/>
          <p:cNvSpPr txBox="1"/>
          <p:nvPr/>
        </p:nvSpPr>
        <p:spPr>
          <a:xfrm>
            <a:off x="363825" y="1117250"/>
            <a:ext cx="83655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Given a 3D triangle with points (0, 0, 0), (1, 1, 2) and (1, 1, 3). Apply shear parameter 2 on X axis find out the new coordinates of the object.</a:t>
            </a:r>
            <a:endParaRPr b="0" i="0" sz="1400" u="none" cap="none" strike="noStrike">
              <a:solidFill>
                <a:srgbClr val="000000"/>
              </a:solidFill>
              <a:latin typeface="Arial"/>
              <a:ea typeface="Arial"/>
              <a:cs typeface="Arial"/>
              <a:sym typeface="Arial"/>
            </a:endParaRPr>
          </a:p>
        </p:txBody>
      </p:sp>
      <p:sp>
        <p:nvSpPr>
          <p:cNvPr id="387" name="Google Shape;387;g3bc93f8e738_0_276"/>
          <p:cNvSpPr txBox="1"/>
          <p:nvPr/>
        </p:nvSpPr>
        <p:spPr>
          <a:xfrm>
            <a:off x="254325" y="2034700"/>
            <a:ext cx="5904300" cy="1725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Triangle vertices: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A(0, 0, 0)</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B(1, 1, 2)</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C(1, 1, 3)</a:t>
            </a:r>
            <a:endParaRPr b="0" i="0" sz="1800" u="none" cap="none" strike="noStrike">
              <a:solidFill>
                <a:srgbClr val="000000"/>
              </a:solidFill>
              <a:latin typeface="Times New Roman"/>
              <a:ea typeface="Times New Roman"/>
              <a:cs typeface="Times New Roman"/>
              <a:sym typeface="Times New Roman"/>
            </a:endParaRPr>
          </a:p>
        </p:txBody>
      </p:sp>
      <p:sp>
        <p:nvSpPr>
          <p:cNvPr id="388" name="Google Shape;388;g3bc93f8e738_0_276"/>
          <p:cNvSpPr txBox="1"/>
          <p:nvPr/>
        </p:nvSpPr>
        <p:spPr>
          <a:xfrm>
            <a:off x="2834050" y="2161875"/>
            <a:ext cx="5749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Shearing parameters: SHx = 2, SHy = 2, SHz = 3</a:t>
            </a:r>
            <a:endParaRPr b="0" i="0" sz="1800" u="none" cap="none" strike="noStrike">
              <a:solidFill>
                <a:schemeClr val="dk1"/>
              </a:solidFill>
              <a:latin typeface="Times New Roman"/>
              <a:ea typeface="Times New Roman"/>
              <a:cs typeface="Times New Roman"/>
              <a:sym typeface="Times New Roman"/>
            </a:endParaRPr>
          </a:p>
        </p:txBody>
      </p:sp>
      <p:sp>
        <p:nvSpPr>
          <p:cNvPr id="389" name="Google Shape;389;g3bc93f8e738_0_276"/>
          <p:cNvSpPr txBox="1"/>
          <p:nvPr/>
        </p:nvSpPr>
        <p:spPr>
          <a:xfrm>
            <a:off x="2596625" y="3110313"/>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Shearing about X-axis</a:t>
            </a:r>
            <a:endParaRPr b="0" i="0" sz="1400" u="none" cap="none" strike="noStrike">
              <a:solidFill>
                <a:srgbClr val="000000"/>
              </a:solidFill>
              <a:latin typeface="Arial"/>
              <a:ea typeface="Arial"/>
              <a:cs typeface="Arial"/>
              <a:sym typeface="Arial"/>
            </a:endParaRPr>
          </a:p>
        </p:txBody>
      </p:sp>
      <p:sp>
        <p:nvSpPr>
          <p:cNvPr id="390" name="Google Shape;390;g3bc93f8e738_0_276"/>
          <p:cNvSpPr txBox="1"/>
          <p:nvPr/>
        </p:nvSpPr>
        <p:spPr>
          <a:xfrm>
            <a:off x="4884425" y="2942250"/>
            <a:ext cx="30000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x' = x</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y' = y + SHy · x</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z' = z + SHz · x</a:t>
            </a:r>
            <a:endParaRPr b="0" i="0" sz="1400" u="none" cap="none" strike="noStrike">
              <a:solidFill>
                <a:schemeClr val="dk1"/>
              </a:solidFill>
              <a:latin typeface="Arial"/>
              <a:ea typeface="Arial"/>
              <a:cs typeface="Arial"/>
              <a:sym typeface="Arial"/>
            </a:endParaRPr>
          </a:p>
        </p:txBody>
      </p:sp>
      <p:sp>
        <p:nvSpPr>
          <p:cNvPr id="391" name="Google Shape;391;g3bc93f8e738_0_276"/>
          <p:cNvSpPr txBox="1"/>
          <p:nvPr/>
        </p:nvSpPr>
        <p:spPr>
          <a:xfrm>
            <a:off x="318400" y="4062150"/>
            <a:ext cx="2788200" cy="1957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700"/>
              <a:buFont typeface="Arial"/>
              <a:buNone/>
            </a:pPr>
            <a:r>
              <a:rPr b="1" i="0" lang="en-US" sz="1700" u="none" cap="none" strike="noStrike">
                <a:solidFill>
                  <a:srgbClr val="980000"/>
                </a:solidFill>
                <a:latin typeface="Times New Roman"/>
                <a:ea typeface="Times New Roman"/>
                <a:cs typeface="Times New Roman"/>
                <a:sym typeface="Times New Roman"/>
              </a:rPr>
              <a:t>For point A (0,0,0)</a:t>
            </a:r>
            <a:endParaRPr b="1" i="0" sz="1700" u="none" cap="none" strike="noStrike">
              <a:solidFill>
                <a:srgbClr val="980000"/>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x' =  x = 0</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y' = </a:t>
            </a:r>
            <a:r>
              <a:rPr b="0" i="0" lang="en-US" sz="1400" u="none" cap="none" strike="noStrike">
                <a:solidFill>
                  <a:schemeClr val="dk1"/>
                </a:solidFill>
                <a:latin typeface="Arial"/>
                <a:ea typeface="Arial"/>
                <a:cs typeface="Arial"/>
                <a:sym typeface="Arial"/>
              </a:rPr>
              <a:t>y + SHy · x </a:t>
            </a:r>
            <a:r>
              <a:rPr b="0" i="0" lang="en-US" sz="1700" u="none" cap="none" strike="noStrike">
                <a:solidFill>
                  <a:schemeClr val="dk1"/>
                </a:solidFill>
                <a:latin typeface="Times New Roman"/>
                <a:ea typeface="Times New Roman"/>
                <a:cs typeface="Times New Roman"/>
                <a:sym typeface="Times New Roman"/>
              </a:rPr>
              <a:t>= 0 + 2× 0 = 0</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z' = </a:t>
            </a:r>
            <a:r>
              <a:rPr b="0" i="0" lang="en-US" sz="1400" u="none" cap="none" strike="noStrike">
                <a:solidFill>
                  <a:schemeClr val="dk1"/>
                </a:solidFill>
                <a:latin typeface="Arial"/>
                <a:ea typeface="Arial"/>
                <a:cs typeface="Arial"/>
                <a:sym typeface="Arial"/>
              </a:rPr>
              <a:t>z + SHz · x = 0</a:t>
            </a:r>
            <a:r>
              <a:rPr b="0" i="0" lang="en-US" sz="1700" u="none" cap="none" strike="noStrike">
                <a:solidFill>
                  <a:schemeClr val="dk1"/>
                </a:solidFill>
                <a:latin typeface="Times New Roman"/>
                <a:ea typeface="Times New Roman"/>
                <a:cs typeface="Times New Roman"/>
                <a:sym typeface="Times New Roman"/>
              </a:rPr>
              <a:t> + 3×0  = 0 </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700"/>
              <a:buFont typeface="Arial"/>
              <a:buNone/>
            </a:pPr>
            <a:r>
              <a:rPr b="1" i="0" lang="en-US" sz="1700" u="none" cap="none" strike="noStrike">
                <a:solidFill>
                  <a:srgbClr val="0B5394"/>
                </a:solidFill>
                <a:latin typeface="Times New Roman"/>
                <a:ea typeface="Times New Roman"/>
                <a:cs typeface="Times New Roman"/>
                <a:sym typeface="Times New Roman"/>
              </a:rPr>
              <a:t>Scaled Point A' (0, 0, 0)</a:t>
            </a:r>
            <a:endParaRPr b="1" i="0" sz="1700" u="none" cap="none" strike="noStrike">
              <a:solidFill>
                <a:srgbClr val="0B5394"/>
              </a:solidFill>
              <a:latin typeface="Times New Roman"/>
              <a:ea typeface="Times New Roman"/>
              <a:cs typeface="Times New Roman"/>
              <a:sym typeface="Times New Roman"/>
            </a:endParaRPr>
          </a:p>
        </p:txBody>
      </p:sp>
      <p:sp>
        <p:nvSpPr>
          <p:cNvPr id="392" name="Google Shape;392;g3bc93f8e738_0_276"/>
          <p:cNvSpPr txBox="1"/>
          <p:nvPr/>
        </p:nvSpPr>
        <p:spPr>
          <a:xfrm>
            <a:off x="3177900" y="4022813"/>
            <a:ext cx="2788200" cy="1957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700"/>
              <a:buFont typeface="Arial"/>
              <a:buNone/>
            </a:pPr>
            <a:r>
              <a:rPr b="1" i="0" lang="en-US" sz="1700" u="none" cap="none" strike="noStrike">
                <a:solidFill>
                  <a:srgbClr val="980000"/>
                </a:solidFill>
                <a:latin typeface="Times New Roman"/>
                <a:ea typeface="Times New Roman"/>
                <a:cs typeface="Times New Roman"/>
                <a:sym typeface="Times New Roman"/>
              </a:rPr>
              <a:t>For point B (1, 1, 2)</a:t>
            </a:r>
            <a:endParaRPr b="1" i="0" sz="1700" u="none" cap="none" strike="noStrike">
              <a:solidFill>
                <a:srgbClr val="980000"/>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x' =  x = 1</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y' = </a:t>
            </a:r>
            <a:r>
              <a:rPr b="0" i="0" lang="en-US" sz="1400" u="none" cap="none" strike="noStrike">
                <a:solidFill>
                  <a:schemeClr val="dk1"/>
                </a:solidFill>
                <a:latin typeface="Arial"/>
                <a:ea typeface="Arial"/>
                <a:cs typeface="Arial"/>
                <a:sym typeface="Arial"/>
              </a:rPr>
              <a:t>y + SHy · x </a:t>
            </a:r>
            <a:r>
              <a:rPr b="0" i="0" lang="en-US" sz="1700" u="none" cap="none" strike="noStrike">
                <a:solidFill>
                  <a:schemeClr val="dk1"/>
                </a:solidFill>
                <a:latin typeface="Times New Roman"/>
                <a:ea typeface="Times New Roman"/>
                <a:cs typeface="Times New Roman"/>
                <a:sym typeface="Times New Roman"/>
              </a:rPr>
              <a:t>= 1 + 2× 1 = 3</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z' = </a:t>
            </a:r>
            <a:r>
              <a:rPr b="0" i="0" lang="en-US" sz="1400" u="none" cap="none" strike="noStrike">
                <a:solidFill>
                  <a:schemeClr val="dk1"/>
                </a:solidFill>
                <a:latin typeface="Arial"/>
                <a:ea typeface="Arial"/>
                <a:cs typeface="Arial"/>
                <a:sym typeface="Arial"/>
              </a:rPr>
              <a:t>z + SHz · x = 2</a:t>
            </a:r>
            <a:r>
              <a:rPr b="0" i="0" lang="en-US" sz="1700" u="none" cap="none" strike="noStrike">
                <a:solidFill>
                  <a:schemeClr val="dk1"/>
                </a:solidFill>
                <a:latin typeface="Times New Roman"/>
                <a:ea typeface="Times New Roman"/>
                <a:cs typeface="Times New Roman"/>
                <a:sym typeface="Times New Roman"/>
              </a:rPr>
              <a:t> + 3×1  = 5</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700"/>
              <a:buFont typeface="Arial"/>
              <a:buNone/>
            </a:pPr>
            <a:r>
              <a:rPr b="1" i="0" lang="en-US" sz="1700" u="none" cap="none" strike="noStrike">
                <a:solidFill>
                  <a:srgbClr val="0B5394"/>
                </a:solidFill>
                <a:latin typeface="Times New Roman"/>
                <a:ea typeface="Times New Roman"/>
                <a:cs typeface="Times New Roman"/>
                <a:sym typeface="Times New Roman"/>
              </a:rPr>
              <a:t>Scaled Point B' (1, 3, 5)</a:t>
            </a:r>
            <a:endParaRPr b="1" i="0" sz="1700" u="none" cap="none" strike="noStrike">
              <a:solidFill>
                <a:srgbClr val="0B5394"/>
              </a:solidFill>
              <a:latin typeface="Times New Roman"/>
              <a:ea typeface="Times New Roman"/>
              <a:cs typeface="Times New Roman"/>
              <a:sym typeface="Times New Roman"/>
            </a:endParaRPr>
          </a:p>
        </p:txBody>
      </p:sp>
      <p:sp>
        <p:nvSpPr>
          <p:cNvPr id="393" name="Google Shape;393;g3bc93f8e738_0_276"/>
          <p:cNvSpPr txBox="1"/>
          <p:nvPr/>
        </p:nvSpPr>
        <p:spPr>
          <a:xfrm>
            <a:off x="6318750" y="4004963"/>
            <a:ext cx="2788200" cy="1957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700"/>
              <a:buFont typeface="Arial"/>
              <a:buNone/>
            </a:pPr>
            <a:r>
              <a:rPr b="1" i="0" lang="en-US" sz="1700" u="none" cap="none" strike="noStrike">
                <a:solidFill>
                  <a:srgbClr val="980000"/>
                </a:solidFill>
                <a:latin typeface="Times New Roman"/>
                <a:ea typeface="Times New Roman"/>
                <a:cs typeface="Times New Roman"/>
                <a:sym typeface="Times New Roman"/>
              </a:rPr>
              <a:t>For point C (1, 1, 3)</a:t>
            </a:r>
            <a:endParaRPr b="1" i="0" sz="1700" u="none" cap="none" strike="noStrike">
              <a:solidFill>
                <a:srgbClr val="980000"/>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x' =  x = 1</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y' = </a:t>
            </a:r>
            <a:r>
              <a:rPr b="0" i="0" lang="en-US" sz="1400" u="none" cap="none" strike="noStrike">
                <a:solidFill>
                  <a:schemeClr val="dk1"/>
                </a:solidFill>
                <a:latin typeface="Arial"/>
                <a:ea typeface="Arial"/>
                <a:cs typeface="Arial"/>
                <a:sym typeface="Arial"/>
              </a:rPr>
              <a:t>y + SHy · x </a:t>
            </a:r>
            <a:r>
              <a:rPr b="0" i="0" lang="en-US" sz="1700" u="none" cap="none" strike="noStrike">
                <a:solidFill>
                  <a:schemeClr val="dk1"/>
                </a:solidFill>
                <a:latin typeface="Times New Roman"/>
                <a:ea typeface="Times New Roman"/>
                <a:cs typeface="Times New Roman"/>
                <a:sym typeface="Times New Roman"/>
              </a:rPr>
              <a:t>= 1 + 2× 1 = 3</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z' = </a:t>
            </a:r>
            <a:r>
              <a:rPr b="0" i="0" lang="en-US" sz="1400" u="none" cap="none" strike="noStrike">
                <a:solidFill>
                  <a:schemeClr val="dk1"/>
                </a:solidFill>
                <a:latin typeface="Arial"/>
                <a:ea typeface="Arial"/>
                <a:cs typeface="Arial"/>
                <a:sym typeface="Arial"/>
              </a:rPr>
              <a:t>z + SHz · x = 3 </a:t>
            </a:r>
            <a:r>
              <a:rPr b="0" i="0" lang="en-US" sz="1700" u="none" cap="none" strike="noStrike">
                <a:solidFill>
                  <a:schemeClr val="dk1"/>
                </a:solidFill>
                <a:latin typeface="Times New Roman"/>
                <a:ea typeface="Times New Roman"/>
                <a:cs typeface="Times New Roman"/>
                <a:sym typeface="Times New Roman"/>
              </a:rPr>
              <a:t>+ 3×1  = 6</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700"/>
              <a:buFont typeface="Arial"/>
              <a:buNone/>
            </a:pPr>
            <a:r>
              <a:rPr b="1" i="0" lang="en-US" sz="1700" u="none" cap="none" strike="noStrike">
                <a:solidFill>
                  <a:srgbClr val="0B5394"/>
                </a:solidFill>
                <a:latin typeface="Times New Roman"/>
                <a:ea typeface="Times New Roman"/>
                <a:cs typeface="Times New Roman"/>
                <a:sym typeface="Times New Roman"/>
              </a:rPr>
              <a:t>Scaled Point B' (1, 3, 6)</a:t>
            </a:r>
            <a:endParaRPr b="1" i="0" sz="1700" u="none" cap="none" strike="noStrike">
              <a:solidFill>
                <a:srgbClr val="0B5394"/>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17"/>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b="0" i="0" lang="en-US" sz="3300" u="none">
                <a:solidFill>
                  <a:schemeClr val="dk1"/>
                </a:solidFill>
                <a:latin typeface="Calibri"/>
                <a:ea typeface="Calibri"/>
                <a:cs typeface="Calibri"/>
                <a:sym typeface="Calibri"/>
              </a:rPr>
              <a:t> </a:t>
            </a:r>
            <a:endParaRPr/>
          </a:p>
        </p:txBody>
      </p:sp>
      <p:pic>
        <p:nvPicPr>
          <p:cNvPr id="400" name="Google Shape;400;p17"/>
          <p:cNvPicPr preferRelativeResize="0"/>
          <p:nvPr>
            <p:ph idx="1" type="body"/>
          </p:nvPr>
        </p:nvPicPr>
        <p:blipFill rotWithShape="1">
          <a:blip r:embed="rId3">
            <a:alphaModFix/>
          </a:blip>
          <a:srcRect b="0" l="0" r="0" t="0"/>
          <a:stretch/>
        </p:blipFill>
        <p:spPr>
          <a:xfrm>
            <a:off x="1671637" y="1295400"/>
            <a:ext cx="5800725" cy="4351337"/>
          </a:xfrm>
          <a:prstGeom prst="rect">
            <a:avLst/>
          </a:prstGeom>
          <a:noFill/>
          <a:ln>
            <a:noFill/>
          </a:ln>
        </p:spPr>
      </p:pic>
      <p:pic>
        <p:nvPicPr>
          <p:cNvPr id="401" name="Google Shape;401;p17"/>
          <p:cNvPicPr preferRelativeResize="0"/>
          <p:nvPr/>
        </p:nvPicPr>
        <p:blipFill rotWithShape="1">
          <a:blip r:embed="rId4">
            <a:alphaModFix/>
          </a:blip>
          <a:srcRect b="0" l="0" r="0" t="0"/>
          <a:stretch/>
        </p:blipFill>
        <p:spPr>
          <a:xfrm>
            <a:off x="8077200" y="22225"/>
            <a:ext cx="1371600" cy="685800"/>
          </a:xfrm>
          <a:prstGeom prst="rect">
            <a:avLst/>
          </a:prstGeom>
          <a:noFill/>
          <a:ln>
            <a:noFill/>
          </a:ln>
        </p:spPr>
      </p:pic>
      <p:sp>
        <p:nvSpPr>
          <p:cNvPr id="402" name="Google Shape;402;p17"/>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403" name="Google Shape;403;p17"/>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00"/>
                                        </p:tgtEl>
                                        <p:attrNameLst>
                                          <p:attrName>style.visibility</p:attrName>
                                        </p:attrNameLst>
                                      </p:cBhvr>
                                      <p:to>
                                        <p:strVal val="visible"/>
                                      </p:to>
                                    </p:set>
                                    <p:anim calcmode="lin" valueType="num">
                                      <p:cBhvr additive="base">
                                        <p:cTn dur="1000"/>
                                        <p:tgtEl>
                                          <p:spTgt spid="400"/>
                                        </p:tgtEl>
                                        <p:attrNameLst>
                                          <p:attrName>ppt_w</p:attrName>
                                        </p:attrNameLst>
                                      </p:cBhvr>
                                      <p:tavLst>
                                        <p:tav fmla="" tm="0">
                                          <p:val>
                                            <p:strVal val="0"/>
                                          </p:val>
                                        </p:tav>
                                        <p:tav fmla="" tm="100000">
                                          <p:val>
                                            <p:strVal val="#ppt_w"/>
                                          </p:val>
                                        </p:tav>
                                      </p:tavLst>
                                    </p:anim>
                                    <p:anim calcmode="lin" valueType="num">
                                      <p:cBhvr additive="base">
                                        <p:cTn dur="1000"/>
                                        <p:tgtEl>
                                          <p:spTgt spid="40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2006-08-22T08:27:31Z</dcterms:created>
  <dc:creator>Brian Mac Namee</dc:creator>
</cp:coreProperties>
</file>